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0bc5cd19274d7b" /><Relationship Type="http://schemas.openxmlformats.org/officeDocument/2006/relationships/extended-properties" Target="/docProps/app.xml" Id="Rd6be54944d934d5b" /><Relationship Type="http://schemas.openxmlformats.org/officeDocument/2006/relationships/officeDocument" Target="/ppt/presentation.xml" Id="Rba3a5d7952d84e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d362f0ff6f4c1b"/>
  </p:sldMasterIdLst>
  <p:notesMasterIdLst>
    <p:notesMasterId xmlns:r="http://schemas.openxmlformats.org/officeDocument/2006/relationships" r:id="R63013823060b4f1a"/>
  </p:notesMasterIdLst>
  <p:sldIdLst>
    <p:sldId xmlns:r="http://schemas.openxmlformats.org/officeDocument/2006/relationships" id="256" r:id="R7ad2305bacf54684"/>
    <p:sldId xmlns:r="http://schemas.openxmlformats.org/officeDocument/2006/relationships" id="257" r:id="R54cb8e0f42c24ef6"/>
    <p:sldId xmlns:r="http://schemas.openxmlformats.org/officeDocument/2006/relationships" id="258" r:id="R3eeb9def504743f5"/>
    <p:sldId xmlns:r="http://schemas.openxmlformats.org/officeDocument/2006/relationships" id="259" r:id="Rdb251c1a67e34b93"/>
    <p:sldId xmlns:r="http://schemas.openxmlformats.org/officeDocument/2006/relationships" id="260" r:id="R37d41ac1cdeb4cba"/>
    <p:sldId xmlns:r="http://schemas.openxmlformats.org/officeDocument/2006/relationships" id="261" r:id="Raeaaa1d637154f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e0c1e793f74504" /><Relationship Type="http://schemas.openxmlformats.org/officeDocument/2006/relationships/slideMaster" Target="/ppt/slideMasters/slideMaster1.xml" Id="R15d362f0ff6f4c1b" /><Relationship Type="http://schemas.openxmlformats.org/officeDocument/2006/relationships/notesMaster" Target="/ppt/notesMasters/notesMaster1.xml" Id="R63013823060b4f1a" /><Relationship Type="http://schemas.openxmlformats.org/officeDocument/2006/relationships/presProps" Target="/ppt/presProps.xml" Id="R216ab11970044d88" /><Relationship Type="http://schemas.openxmlformats.org/officeDocument/2006/relationships/viewProps" Target="/ppt/viewProps.xml" Id="Raf040c7fdb0a45a8" /><Relationship Type="http://schemas.openxmlformats.org/officeDocument/2006/relationships/tableStyles" Target="/ppt/tableStyles.xml" Id="Ree145d04854e4c03" /><Relationship Type="http://schemas.openxmlformats.org/officeDocument/2006/relationships/slide" Target="/ppt/slides/slide1.xml" Id="R7ad2305bacf54684" /><Relationship Type="http://schemas.openxmlformats.org/officeDocument/2006/relationships/slide" Target="/ppt/slides/slide2.xml" Id="R54cb8e0f42c24ef6" /><Relationship Type="http://schemas.openxmlformats.org/officeDocument/2006/relationships/slide" Target="/ppt/slides/slide3.xml" Id="R3eeb9def504743f5" /><Relationship Type="http://schemas.openxmlformats.org/officeDocument/2006/relationships/slide" Target="/ppt/slides/slide4.xml" Id="Rdb251c1a67e34b93" /><Relationship Type="http://schemas.openxmlformats.org/officeDocument/2006/relationships/slide" Target="/ppt/slides/slide5.xml" Id="R37d41ac1cdeb4cba" /><Relationship Type="http://schemas.openxmlformats.org/officeDocument/2006/relationships/slide" Target="/ppt/slides/slide6.xml" Id="Raeaaa1d637154f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71043063b741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6b78222d7e48df" /><Relationship Type="http://schemas.openxmlformats.org/officeDocument/2006/relationships/notesMaster" Target="/ppt/notesMasters/notesMaster1.xml" Id="R187dc819f10d4d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d2bb4b3ecb428f" /><Relationship Type="http://schemas.openxmlformats.org/officeDocument/2006/relationships/notesMaster" Target="/ppt/notesMasters/notesMaster1.xml" Id="Rc5e5a27f1ce741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d6e74a47a847d7" /><Relationship Type="http://schemas.openxmlformats.org/officeDocument/2006/relationships/notesMaster" Target="/ppt/notesMasters/notesMaster1.xml" Id="R2d5e431307264c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550a8445af491b" /><Relationship Type="http://schemas.openxmlformats.org/officeDocument/2006/relationships/notesMaster" Target="/ppt/notesMasters/notesMaster1.xml" Id="R27cdd90d1ceb4d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242139939143ed" /><Relationship Type="http://schemas.openxmlformats.org/officeDocument/2006/relationships/notesMaster" Target="/ppt/notesMasters/notesMaster1.xml" Id="R21607c32d53c46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e0cbd509284e77" /><Relationship Type="http://schemas.openxmlformats.org/officeDocument/2006/relationships/notesMaster" Target="/ppt/notesMasters/notesMaster1.xml" Id="R046ba9e1d38d46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MSL Meeting Notes workbook (103 interactions; 48 unique named HCPs; 20 MSLs); ASCO Field Notes memo; KITs &amp; KIQs deck.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Phase 3 prioritized action plan; CRM Meeting Notes; ASCO Field Notes memo; internal training deck as context only.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CRM safety/ILD theme scan: 13 OVT-209 NSCLC interactions across 11 named HCPs; ASCO Field Notes safety section and named MSK follow-up; Training Deck slides 6–10 as internal context.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CRM competitive-theme scan: 7 OVT-209 NSCLC interactions across 6 named HCPs; ASCO Field Notes competitive observations; KIT 3 in the KITs/KIQs deck.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CRM sequencing scan: 12 interactions across 10 named HCPs; CRM implementation scan: 12 interactions across 11 named HCPs; ASCO Field Notes KOL observations. APAC regulatory pathway remains a hypothesis to validate.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Consolidated roadmap synthesized from CRM Meeting Notes, ASCO Field Notes, KITs/KIQs, and internal training context. Confidence reflects source convergence, not statistical significance.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78bd0e85c407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159caf8fb94844" /><Relationship Type="http://schemas.openxmlformats.org/officeDocument/2006/relationships/slideLayout" Target="/ppt/slideLayouts/slideLayout1.xml" Id="R22061fcd12864da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061fcd12864da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fed49a28d4271" /><Relationship Type="http://schemas.openxmlformats.org/officeDocument/2006/relationships/notesSlide" Target="/ppt/notesSlides/notesSlide1.xml" Id="R2f75115582ae43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bea05e6714ee5" /><Relationship Type="http://schemas.openxmlformats.org/officeDocument/2006/relationships/notesSlide" Target="/ppt/notesSlides/notesSlide2.xml" Id="R9967f99f3cb445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437d106ac447c" /><Relationship Type="http://schemas.openxmlformats.org/officeDocument/2006/relationships/notesSlide" Target="/ppt/notesSlides/notesSlide3.xml" Id="R11a6c9ff9cf042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d5433b4044ae5" /><Relationship Type="http://schemas.openxmlformats.org/officeDocument/2006/relationships/notesSlide" Target="/ppt/notesSlides/notesSlide4.xml" Id="R9f29d30770e74c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45563206d431e" /><Relationship Type="http://schemas.openxmlformats.org/officeDocument/2006/relationships/notesSlide" Target="/ppt/notesSlides/notesSlide5.xml" Id="R0f4f3a9a816b47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4f8e19cc94733" /><Relationship Type="http://schemas.openxmlformats.org/officeDocument/2006/relationships/notesSlide" Target="/ppt/notesSlides/notesSlide6.xml" Id="Re7f3a296b58341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E93C75-3A9E-4E84-A1CB-28AA30E1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795D254-271E-4E17-AC27-B01050F5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34840"/>
            <a:ext cx="12191695" cy="2423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C4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E72FAB-A2D9-484E-A69F-88C5C60E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CONGRESS INSIGHTS REPORT  ·  ASCO 2025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716BFFD-A522-4846-B18F-D0D16B2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1024128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OVT-209 at ASCO 2025:</a:t>
            </a:r>
            <a:endParaRPr sz="40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What the Field Is Telling Us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01D0CB-7A91-4A38-8319-CB6A0596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044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NSCLC Phase II Data Readout  |  Insights &amp; Action Plan for USMA Medical Affairs Leadership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6ED1EE-4504-4C10-BE13-71601A14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192627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E85B45"/>
                </a:solidFill>
                <a:latin typeface="Cambria"/>
                <a:ea typeface="Cambria"/>
                <a:cs typeface="Cambria"/>
              </a:rPr>
              <a:t>103</a:t>
            </a:r>
            <a:endParaRPr sz="2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B9BA012-D0D5-4C4D-84E7-C2C48343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94960"/>
            <a:ext cx="192627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field interactions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E650D9C-C21B-48C0-9CB3-3CA56B2A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115" y="4892040"/>
            <a:ext cx="192627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E85B45"/>
                </a:solidFill>
                <a:latin typeface="Cambria"/>
                <a:ea typeface="Cambria"/>
                <a:cs typeface="Cambria"/>
              </a:rPr>
              <a:t>48</a:t>
            </a:r>
            <a:endParaRPr sz="2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8A42F77-96D5-423A-B3E5-48D80BD8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115" y="5394960"/>
            <a:ext cx="192627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HCPs engaged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2591742-9818-4F30-A93B-3257BEDC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270" y="4892040"/>
            <a:ext cx="192627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E85B45"/>
                </a:solidFill>
                <a:latin typeface="Cambria"/>
                <a:ea typeface="Cambria"/>
                <a:cs typeface="Cambria"/>
              </a:rPr>
              <a:t>20</a:t>
            </a:r>
            <a:endParaRPr sz="2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A6F5F54-ED6A-4152-A09D-CC97E155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270" y="5394960"/>
            <a:ext cx="192627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MSLs reporting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64B8453-1783-49BC-ACE2-1034A9C5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425" y="4892040"/>
            <a:ext cx="192627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E85B45"/>
                </a:solidFill>
                <a:latin typeface="Cambria"/>
                <a:ea typeface="Cambria"/>
                <a:cs typeface="Cambria"/>
              </a:rPr>
              <a:t>Global</a:t>
            </a:r>
            <a:endParaRPr sz="2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645F00B-EF34-41DC-A151-21F790D0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425" y="5394960"/>
            <a:ext cx="192627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coverage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77C444E-1F88-4F6E-BD83-F4A22BCA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580" y="4892040"/>
            <a:ext cx="192627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E85B45"/>
                </a:solidFill>
                <a:latin typeface="Cambria"/>
                <a:ea typeface="Cambria"/>
                <a:cs typeface="Cambria"/>
              </a:rPr>
              <a:t>Apr–Jul '25</a:t>
            </a:r>
            <a:endParaRPr sz="2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E75ADE3-5ECC-4419-BF55-53BDCF4A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580" y="5394960"/>
            <a:ext cx="192627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coverage window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BFD5003-337C-4B62-B117-4021F105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9AA3B8"/>
                </a:solidFill>
                <a:latin typeface="Calibri"/>
                <a:ea typeface="Calibri"/>
                <a:cs typeface="Calibri"/>
              </a:rPr>
              <a:t>Atrix AI  ×  Orivus Therapeutics</a:t>
            </a:r>
            <a:endParaRPr sz="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C4DFDB-0643-490F-AE87-9B588635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895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3B8"/>
                </a:solidFill>
                <a:latin typeface="Calibri"/>
                <a:ea typeface="Calibri"/>
                <a:cs typeface="Calibri"/>
              </a:rPr>
              <a:t>CONFIDENTIAL — INTERNAL USE ONLY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03476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A2A5B2-A131-4F53-92F1-6F5A856F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515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Three Actions in the Next 30 Days</a:t>
            </a:r>
            <a:endParaRPr sz="2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437F04-64E2-4CB7-9007-17DFB17E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Prioritization framework:  P3 = 0–30 days (critical/immediate)   ·   P2 = 30–90 days (important/near-term)   ·   P1 = ongoing monitoring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1630A2E-17D1-48E8-8C71-573C9FF0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5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0166723-F9E3-40E0-8347-2F25CCE0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222EF7A-F134-4DC3-8956-49890A8D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508760"/>
            <a:ext cx="10332720" cy="11521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6F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EC8EDE-CBA6-4486-87F2-1F292883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618488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E85B45"/>
                </a:solidFill>
                <a:latin typeface="Calibri"/>
                <a:ea typeface="Calibri"/>
                <a:cs typeface="Calibri"/>
              </a:rPr>
              <a:t>SAFETY &amp; FIELD READINESS</a:t>
            </a:r>
            <a:endParaRPr sz="9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7B1215A-E4D5-4F9F-80F6-C5DD4017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87452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Turn ILD concern into operational confidence.</a:t>
            </a:r>
            <a:endParaRPr sz="14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F18FD81-65AA-4BB5-8F34-7BFA9196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258568"/>
            <a:ext cx="7863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13 CRM interactions (11 named HCPs) raise ILD; independently corroborated by the ASCO Field Notes, which flag a named MSK follow-up.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834ABA3-2D86-499D-8F1B-3A8628F7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691640"/>
            <a:ext cx="2368296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45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B165ED0-16BB-4D7C-AA17-DD92C390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691640"/>
            <a:ext cx="23682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P3 · 7–30 DAYS</a:t>
            </a:r>
            <a:endParaRPr sz="10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B0F77DB-2EDB-4526-858F-7648D7B0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900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AA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343346-E9CB-499B-AFA9-86487152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90088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390C37A-BB05-4B90-B993-AA09947F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07208"/>
            <a:ext cx="10332720" cy="11521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6F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4CA107E-1614-4EF3-AE86-C66363AB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916936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B6AA6"/>
                </a:solidFill>
                <a:latin typeface="Calibri"/>
                <a:ea typeface="Calibri"/>
                <a:cs typeface="Calibri"/>
              </a:rPr>
              <a:t>COMPETITIVE DIFFERENTIATION</a:t>
            </a:r>
            <a:endParaRPr sz="9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78F2E41-6F4E-4571-AA83-BA9A67D2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172968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Prevent an “equivalent ADCs” narrative before it sets.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323F392-E5CB-4B44-B3E0-23A4F625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557016"/>
            <a:ext cx="7863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7 CRM interactions (6 HCPs) directly compare OVT-209 to Lunexorimab; Field Notes capture an “equivalent options” framing forming in the field.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15B54DE-5634-4B69-A345-126A3CC7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2990088"/>
            <a:ext cx="2075688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AA6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D24B421-BBBB-4BB4-8153-65F33188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2990088"/>
            <a:ext cx="20756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P3 · 30 DAYS</a:t>
            </a:r>
            <a:endParaRPr sz="10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5DD1F3F-A501-4697-94F0-302AEC09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885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CF39836-3AD5-4C07-8A59-DAD012A8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885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CE22BCB-C31A-4D83-BA2F-6E646BDF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05656"/>
            <a:ext cx="10332720" cy="11521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6F0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E857665-04AE-43E2-8470-A8D15168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215384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SEQUENCING &amp; PATIENT SELECTION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23803C1-5EE6-4414-B962-D4BBC7D8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471416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Move now on the MD Anderson Phase III opportunity.</a:t>
            </a:r>
            <a:endParaRPr sz="14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DF0CDE0-C2C6-40D9-B15D-C5FC2830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855464"/>
            <a:ext cx="7863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Dr. Okonkwo's stated interest in Phase III participation is concrete and time-sensitive — a site-feasibility conversation should start immediately.</a:t>
            </a:r>
            <a:endParaRPr sz="10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5FB048A-F64C-45CE-99C4-846FAE08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4288536"/>
            <a:ext cx="2075688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B6173B8-EEB9-4C24-9C54-A1702842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4288536"/>
            <a:ext cx="20756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P3 · 10 DAYS</a:t>
            </a:r>
            <a:endParaRPr sz="10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BF8C9F4-E2BB-49F6-BDA3-316B9400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9824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Plus 4 P2 actions in progress — sequencing evidence generation, US implementation readiness, and APAC regulatory validation (detailed next).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2099F9A-FC7B-4F08-9719-CECF3596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Executive Summary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83FB0D5-9EDF-48AB-9125-45F0E7B6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895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CONFIDENTIAL — INTERNAL USE ONLY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0317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DD3C17-0F24-4C19-835D-A883C493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5733288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4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44E4859-9A50-45DE-9613-F0EC810D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57332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CATEGORY 1 · SAFETY &amp; FIELD READINESS</a:t>
            </a:r>
            <a:endParaRPr sz="1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35DF74-36C3-4967-8D6E-C7A8C0FD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11480"/>
            <a:ext cx="2368296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1533BA3-3109-43D4-8D84-12654F59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11480"/>
            <a:ext cx="23682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P3 · 7–30 DAYS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A023E49-2DC8-4D3A-8D8D-1835E6D9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Turn ILD Concern Into Operational Confidence</a:t>
            </a:r>
            <a:endParaRPr sz="2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9F3AA3E-089B-4B2F-ADD9-F05CC898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3566160" cy="420624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85B4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1A41CC-5C72-4514-B761-92ADE18F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3017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13 / 11</a:t>
            </a:r>
            <a:endParaRPr sz="4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A4F4169-5B53-4FAC-BB12-62FF3D7F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3017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OVT-209 NSCLC CRM interactions raising ILD/safety questions, across 11 named HCPs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E39FB02-C300-4EB3-BC2D-A1E22457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0440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/>
            </a:solidFill>
            <a:prstDash val="sysDot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1EA26F5-FD71-4FDC-88BF-D926461C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017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9 / 7</a:t>
            </a:r>
            <a:endParaRPr sz="2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0BC4DC4-4C2A-405C-8718-ED42EAA2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interactions / HCPs are US-based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ECCCE83-EE8D-4A62-9777-56A551A8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72000"/>
            <a:ext cx="3017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Independently corroborated by the ASCO Field Notes memo, which also flags a named MSK follow-up.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9F39518-3B5B-42EC-A0E9-4DB37C5C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600200"/>
            <a:ext cx="7178040" cy="16002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4F6FB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34CE0BB-6319-4E2C-B984-CB6B1704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764792"/>
            <a:ext cx="6629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What HCPs are asking for before they adopt</a:t>
            </a:r>
            <a:endParaRPr sz="14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2FCEACC-0BCE-466C-B060-B071F0EC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121408"/>
            <a:ext cx="66294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Practical ILD monitoring cadence, symptom triggers, escalation pathway, dose modification, and approved nausea-management guidance — before they feel ready to use OVT-209 in practice.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0A66280-7EAC-42F7-92C1-9BC875EF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337560"/>
            <a:ext cx="7178040" cy="105156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713031D-7E67-4C0B-B074-D5F2113A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456432"/>
            <a:ext cx="6629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“...pulled me aside after the session specifically to ask about our ILD monitoring protocol.”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D3B5E16-B2CC-45C1-87FD-295FC11B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041648"/>
            <a:ext cx="6629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Dr. Martinez, Memorial Sloan Kettering — named follow-up flagged in Field Notes</a:t>
            </a:r>
            <a:endParaRPr sz="10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602C450-4450-4594-995A-921CBD48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526280"/>
            <a:ext cx="7178040" cy="12801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12700">
            <a:solidFill>
              <a:srgbClr val="E85B45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CBE37DA-AB64-40AD-B5F2-115C5528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645152"/>
            <a:ext cx="66294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8A2E1F"/>
                </a:solidFill>
                <a:latin typeface="Calibri"/>
                <a:ea typeface="Calibri"/>
                <a:cs typeface="Calibri"/>
              </a:rPr>
              <a:t>ACTIONS: (1) Launch approved ILD-management package — monitoring cadence, symptom triggers, escalation, dose mod, nausea guidance. (2) Complete the named MSK follow-up. (3) Build an MSL safety response guide. (4) Add rechallenge guidance only if approved evidence supports it.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B5123BF-DAF4-4CFE-BC01-6BD308CF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897880"/>
            <a:ext cx="7178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Owner: US Medical Affairs / Field Medical, with Medical Information &amp; Medical/Legal review.  Confidence: High for the operational need; clinical claims require approved-fact validation.</a:t>
            </a:r>
            <a:endParaRPr sz="9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3B2AEA8-FC6D-4BE3-A697-DF285BA9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Category 1 of 4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9398AE4-D3C3-43D8-B470-EE1EC45E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895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CONFIDENTIAL — INTERNAL USE ONLY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45628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CFCE6A-76D7-41DB-94CC-1E772EC2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617220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AA6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8734F64-2E18-4A1C-B67E-09D4C116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6172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CATEGORY 2 · COMPETITIVE DIFFERENTIATION</a:t>
            </a:r>
            <a:endParaRPr sz="1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6BE18C5-15F0-4B4A-8E42-0F040B07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11480"/>
            <a:ext cx="2075688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6369AF8-6FAB-4C83-8DDB-5428AD73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11480"/>
            <a:ext cx="20756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P3 · 30 DAYS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180019-DE38-4C43-9879-EBCC6E73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Prevent an “Equivalent ADCs” Narrative</a:t>
            </a:r>
            <a:endParaRPr sz="2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40EC577-2265-4F70-89C3-4E7A74F9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34924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4F6FB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AB9E038-3757-4A48-B189-649F2A62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2011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7 / 6</a:t>
            </a:r>
            <a:endParaRPr sz="4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ABBAAB-B1DC-400E-A684-FD714CA8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0320"/>
            <a:ext cx="4800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CRM interactions directly comparing OVT-209 to Lunexorimab or other ADCs, across 6 named HCPs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E2D0349-17C4-44E9-B294-B9C9A8EC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3756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5 interactions / 4 HCPs are US-based.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247AF84-EA84-4E0C-B1CC-7425785A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49040"/>
            <a:ext cx="4800600" cy="100584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6F0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878C444-4584-4F43-9A75-6E76DC94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40480"/>
            <a:ext cx="4434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“...basically equivalent options at this stage.” — Field Notes, overheard at the poster session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498590F-F81D-40EF-B1D5-314C48B4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480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Without an evidence-backed differentiation narrative, the field may default to waiting for more mature or comparative data.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7415365-504E-43DE-A3F7-6CD8981C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5468112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45FA9FB-75B8-41A7-904E-E1D13A84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01368"/>
            <a:ext cx="49194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Action Plan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7124E36-EB55-4233-AF29-6F30F867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258568"/>
            <a:ext cx="491947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>
              <a:buSzPct val="100000"/>
              <a:buChar char="•"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Refresh / confirm the Lunexorimab differentiation one-pager referenced in the internal training deck.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A833266-E69A-495D-8DE6-A809D630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825496"/>
            <a:ext cx="491947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>
              <a:buSzPct val="100000"/>
              <a:buChar char="•"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Build a version-controlled competitive framework: approved evidence vs. field perception vs. evidence gaps vs. unverified intel.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8A81C70-7CA6-443C-ABF5-CEADEEE6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392424"/>
            <a:ext cx="491947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>
              <a:buSzPct val="100000"/>
              <a:buChar char="•"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Equip MSLs to discuss differentiation without unsupported cross-trial comparisons.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6AA2CCA-14D9-430E-B91E-D194140B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59352"/>
            <a:ext cx="491947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>
              <a:buSzPct val="100000"/>
              <a:buChar char="•"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Monitor Axelion Phase III timing and Dato-DXd developments as P1 competitive intelligence.</a:t>
            </a:r>
            <a:endParaRPr sz="1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3DA040E-BD0B-4AE8-A5B1-615AA0AC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029200"/>
            <a:ext cx="49194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Owner: Competitive Intelligence + US Medical Affairs.  Confidence: Moderate-high for the need to differentiate; moderate for comparative claims.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A1470F9-DD11-4A6A-B94A-0EA9EC60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Category 2 of 4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5733542-BAE7-4D36-B1CF-750D5A04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895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CONFIDENTIAL — INTERNAL USE ONLY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87973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54CBF52-7B1D-4B24-AAE0-F90AAD06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B1F3B"/>
                </a:solidFill>
                <a:latin typeface="Cambria"/>
                <a:ea typeface="Cambria"/>
                <a:cs typeface="Cambria"/>
              </a:rPr>
              <a:t>Where OVT-209 Fits, and Whether the Field Can Deliver It</a:t>
            </a:r>
            <a:endParaRPr sz="2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6CA5379-E998-43AE-8585-14859C6D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1064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Sequencing defines clinical placement; implementation defines whether interest converts to real-world use.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866ADF-12C0-4E54-B394-7973ADBC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49240" cy="4892040"/>
          </a:xfrm>
          <a:prstGeom xmlns:a="http://schemas.openxmlformats.org/drawingml/2006/main" prst="roundRect">
            <a:avLst>
              <a:gd name="adj" fmla="val 1121"/>
            </a:avLst>
          </a:prstGeom>
          <a:solidFill xmlns:a="http://schemas.openxmlformats.org/drawingml/2006/main">
            <a:srgbClr val="F4F6FB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7635FAF-4214-4E48-808F-C97AE8B9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2821838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F299223-2A60-4439-8BAB-64D99239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282183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CAT. 3 · SEQUENCING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E1CF215-FFC4-4F7E-93E5-4D810734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893" y="1554480"/>
            <a:ext cx="583387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AA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8681529-D288-4D36-AFFA-BA5C4C1A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893" y="1554480"/>
            <a:ext cx="5833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P2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65EEE9-1239-4AE3-B2B0-9844C9D9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12</a:t>
            </a:r>
            <a:endParaRPr sz="2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3FE80C7-A159-411D-85EA-10719485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1965960"/>
            <a:ext cx="3749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CRM interactions raise placement questions (2L vs. 3L+, biomarker-negative, TKI-pretreated), across 10 HCPs; 8 / 6 US-based.</a:t>
            </a:r>
            <a:endParaRPr sz="1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0220310-9562-41DC-BCB0-D59480BD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4892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>
              <a:buSzPct val="100000"/>
              <a:buChar char="•"/>
            </a:pPr>
            <a:r>
              <a:rPr sz="10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Evidence-bounded 2L/3L+ treatment-placement FAQ.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2639817-EED4-4324-B194-2BCD394E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72968"/>
            <a:ext cx="4892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>
              <a:buSzPct val="100000"/>
              <a:buChar char="•"/>
            </a:pPr>
            <a:r>
              <a:rPr sz="10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Add “Sequencing / Treatment Algorithm” as an Emerging Theme pending formal KIT approval.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955BD93-F87B-4949-A808-6B0C5E01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57016"/>
            <a:ext cx="4892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>
              <a:buSzPct val="100000"/>
              <a:buChar char="•"/>
            </a:pPr>
            <a:r>
              <a:rPr sz="10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Evidence-gap log: biomarker selection, combinations, frail patients, TKI-pretreated, post-OVT-209 management.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6E926D6-F9C9-4758-8ACF-7B40B0EA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41064"/>
            <a:ext cx="4892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>
              <a:buSzPct val="100000"/>
              <a:buChar char="•"/>
            </a:pPr>
            <a:r>
              <a:rPr sz="10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Request formal EGFR wild-type subgroup analysis from Biostatistics.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4595DEC-DD69-4F81-B550-C3573976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17720"/>
            <a:ext cx="489204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5B4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34B1977-BDC4-42FC-8A0D-92A845CD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0872"/>
            <a:ext cx="4617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P3 · 10 DAYS — MD Anderson Phase III site feasibility: Dr. Okonkwo's stated interest is concrete and time-sensitive. Connect with Clinical Operations now.</a:t>
            </a:r>
            <a:endParaRPr sz="9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7635575-7EDF-4CB0-8405-CF50D379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23560"/>
            <a:ext cx="4892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Owner: US Medical Affairs, Clinical Development, Biostatistics, Field Medical.  Confidence: High for the theme; moderate for subgroup claims until validated.</a:t>
            </a:r>
            <a:endParaRPr sz="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7CAD4B6-0664-4873-9629-3A6FC6A6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468112" cy="4892040"/>
          </a:xfrm>
          <a:prstGeom xmlns:a="http://schemas.openxmlformats.org/drawingml/2006/main" prst="roundRect">
            <a:avLst>
              <a:gd name="adj" fmla="val 1121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F7A4DEA-8121-4DAB-BDA3-E82924D9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4533595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AA6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4A11E85-FE25-41B3-8053-94D4C9DB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45335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CAT. 4 · IMPLEMENTATION &amp; ACCESS</a:t>
            </a:r>
            <a:endParaRPr sz="9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52A8D86-3E97-4EA9-B903-46C072E6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325" y="1554480"/>
            <a:ext cx="583387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4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AAC0BEE-4726-4102-9D41-0634BC27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325" y="1554480"/>
            <a:ext cx="5833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P2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9121CF6-8ACF-461E-BF8E-25ACB615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5960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85B45"/>
                </a:solidFill>
                <a:latin typeface="Cambria"/>
                <a:ea typeface="Cambria"/>
                <a:cs typeface="Cambria"/>
              </a:rPr>
              <a:t>12</a:t>
            </a:r>
            <a:endParaRPr sz="2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3B0A87D-0D96-4C30-B9F7-4CC7A38F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65960"/>
            <a:ext cx="36393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CRM interactions raise infusion capacity, eligibility, access/reimbursement, or timing questions, across 11 HCPs; 7 / 6 US-based.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7BDE725-624A-4B75-A9BA-994E5F9C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8920"/>
            <a:ext cx="50109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>
              <a:buSzPct val="100000"/>
              <a:buChar char="•"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US account-readiness tracker: infusion capacity, patient eligibility, workflow, implementation barriers.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AA151C1-986D-4C5B-BA1D-81592733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2968"/>
            <a:ext cx="50109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>
              <a:buSzPct val="100000"/>
              <a:buChar char="•"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Define evidence-generation needs: frail patients, real-world use, administration burden.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205E1CC-C9E6-4CFD-ADFB-8E76A770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57016"/>
            <a:ext cx="50109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>
              <a:buSzPct val="100000"/>
              <a:buChar char="•"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Present APAC/EUCAN reimbursement &amp; access insights as regional callouts, not US-wide conclusions.</a:t>
            </a:r>
            <a:endParaRPr sz="10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A9118B0-39D7-45FA-A814-E2C8D5E1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1960"/>
            <a:ext cx="5010912" cy="105156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2A3470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A279589-E488-455E-ABFB-C537B4D8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43400"/>
            <a:ext cx="473659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P2 · 15–45 DAYS — APAC regulatory hypothesis: a PMDA/MFDS accelerated pathway raised by a Japanese KOL is promising but unconfirmed. Brief Regulatory Affairs + Global Medical Affairs; validate before treating as strategy.</a:t>
            </a:r>
            <a:endParaRPr sz="9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B90FB1F-D4A1-4E02-B1BB-C8E5B356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0680"/>
            <a:ext cx="501091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Owner: US Medical Affairs, Market Access, Field Medical, Launch Excellence (+ Regulatory Affairs / Global Medical Affairs for APAC).  Confidence: Moderate-high for readiness; low-medium for the APAC opportunity.</a:t>
            </a:r>
            <a:endParaRPr sz="9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21D36C8-4610-4B2F-92B0-4A5F77E7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Categories 3 &amp; 4 of 4</a:t>
            </a:r>
            <a:endParaRPr sz="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CF12DA1-F690-4175-B800-7C25972E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895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CONFIDENTIAL — INTERNAL USE ONLY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0614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96D691-AD4C-49B9-96E3-497A56F6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0058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Consolidated Roadmap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45E7F52-59B0-4248-9353-B9D645F2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Every action traces to a specific field record. Confidence reflects source convergence, not statistical power.</a:t>
            </a:r>
            <a:endParaRPr sz="11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B78C321-2EEE-4FA9-8419-49853699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64240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1C4D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B60B353-FF3F-423B-BF2B-6884969F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298448"/>
            <a:ext cx="6126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PRI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BA03F26-EBBE-4340-8317-F7CEF6A7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1298448"/>
            <a:ext cx="5779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RECOMMENDED ACTION</a:t>
            </a:r>
            <a:endParaRPr sz="9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AAC71F2-5CB5-46F8-AA89-071B8ACD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1298448"/>
            <a:ext cx="2715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OWNER</a:t>
            </a:r>
            <a:endParaRPr sz="9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324586B-65BF-49A1-951B-1D72C546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1298448"/>
            <a:ext cx="12984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TIMING</a:t>
            </a:r>
            <a:endParaRPr sz="9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9CDB3E9-4D60-44F0-99A8-1D08B001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55648"/>
            <a:ext cx="11064240" cy="406908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FC462AA-6038-4581-AB47-21FCCA90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31086"/>
            <a:ext cx="583387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45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BDF6566-1863-4ED2-9B6B-1166358A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31086"/>
            <a:ext cx="5833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P3</a:t>
            </a:r>
            <a:endParaRPr sz="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D660604-0549-4A22-BBA0-248F35A0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1755648"/>
            <a:ext cx="572414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Launch ILD field-support package; complete named HCP follow-up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4282436-5BA1-49CF-9EF3-D410FD2F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755648"/>
            <a:ext cx="266090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US Med Affairs / Field Medical</a:t>
            </a:r>
            <a:endParaRPr sz="9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845ABED-56A8-4346-BD3A-3DD9AC7F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1755648"/>
            <a:ext cx="124358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7–30 days</a:t>
            </a:r>
            <a:endParaRPr sz="9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7875D96-939B-47D0-B848-31592CA4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53996"/>
            <a:ext cx="11064240" cy="406908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3B201F2-BA0A-4818-9760-0D295640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29434"/>
            <a:ext cx="583387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4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B489801-3A77-454F-9B1C-0E64B464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29434"/>
            <a:ext cx="5833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P3</a:t>
            </a:r>
            <a:endParaRPr sz="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4A2F2A4-F78A-43AB-B22F-631DC34C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253996"/>
            <a:ext cx="572414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Align evidence-backed Lunexorimab differentiation narrative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B8FE4D3-CC4E-4F7A-B760-3519A597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253996"/>
            <a:ext cx="266090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Competitive Intelligence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DEA98D5-9FCA-4EFD-B139-9A01A785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2253996"/>
            <a:ext cx="124358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30 days</a:t>
            </a:r>
            <a:endParaRPr sz="9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2F0E5BB-BC08-497D-B7C5-B121D408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52344"/>
            <a:ext cx="11064240" cy="406908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195F71D-9AA4-41F7-A900-6771F0DA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27782"/>
            <a:ext cx="583387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45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EC77CC4-85C7-40B8-9B7A-854DEF3C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27782"/>
            <a:ext cx="5833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P3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2A450B5-FC3F-433E-95AF-EF55F61C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752344"/>
            <a:ext cx="572414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Initiate MD Anderson Phase III site-feasibility discussion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36AC28E-C237-482C-835D-52841409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52344"/>
            <a:ext cx="266090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Clinical Operations</a:t>
            </a:r>
            <a:endParaRPr sz="9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E4EA44A-E57D-41F5-912C-1598E844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2752344"/>
            <a:ext cx="124358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10 days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9EDE170-2957-41B8-AAFA-633ED25D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50692"/>
            <a:ext cx="11064240" cy="406908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E51171A-EDE9-43C3-BEEB-B44DFF91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326130"/>
            <a:ext cx="583387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AA6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E3C81BA-0B5E-448B-86DF-D411EB6F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326130"/>
            <a:ext cx="5833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P2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90F5670-F687-43D8-8368-FDCB742F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250692"/>
            <a:ext cx="572414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Develop sequencing / patient-selection FAQ + evidence-gap log</a:t>
            </a:r>
            <a:endParaRPr sz="10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EB75C66-891D-4038-9E6D-A35D9010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250692"/>
            <a:ext cx="266090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US Med Affairs / Clin. Dev.</a:t>
            </a:r>
            <a:endParaRPr sz="9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C671447-0B0A-4FB0-B77D-60D8BFBA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3250692"/>
            <a:ext cx="124358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30–90 days</a:t>
            </a:r>
            <a:endParaRPr sz="9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6A04570-1277-4E36-8DE1-0FAB87AE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11064240" cy="406908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311EB08-3A20-4826-939D-A95D2E06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24478"/>
            <a:ext cx="583387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AA6"/>
          </a:solidFill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F373CF1-D639-4ADB-8574-2DE023AF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24478"/>
            <a:ext cx="5833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P2</a:t>
            </a:r>
            <a:endParaRPr sz="9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9B7D57F-659C-45B2-A210-2AF572D7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749040"/>
            <a:ext cx="572414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Request EGFR wild-type subgroup analysis</a:t>
            </a:r>
            <a:endParaRPr sz="10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E8066625-82C8-480D-ACE6-155DF0DC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749040"/>
            <a:ext cx="266090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Biostatistics</a:t>
            </a:r>
            <a:endParaRPr sz="9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899932E-CBB8-4AF0-AA9B-2158D01A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3749040"/>
            <a:ext cx="124358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≤30 days</a:t>
            </a:r>
            <a:endParaRPr sz="9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823111CD-F8E9-4B65-A6CC-A9896C04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47388"/>
            <a:ext cx="11064240" cy="406908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BAFA8760-7BF3-4853-819A-FB6522AC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22826"/>
            <a:ext cx="583387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AA6"/>
          </a:solidFill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1CB4A26-C28B-4033-96BB-28E82B69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22826"/>
            <a:ext cx="5833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P2</a:t>
            </a:r>
            <a:endParaRPr sz="9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0CEF692-B19A-4396-A221-07590A4E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247388"/>
            <a:ext cx="572414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Build US implementation-readiness tracker</a:t>
            </a:r>
            <a:endParaRPr sz="105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24A9A3A5-55D9-49D4-930B-F96BC7B3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247388"/>
            <a:ext cx="266090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Market Access / Field Medical</a:t>
            </a:r>
            <a:endParaRPr sz="95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F92096DD-285F-4F48-ACF8-B34A6D33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4247388"/>
            <a:ext cx="124358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30–90 days</a:t>
            </a:r>
            <a:endParaRPr sz="95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9B01D49E-27DA-47FA-897F-D997B0B2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45736"/>
            <a:ext cx="11064240" cy="406908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77D61368-BB91-40ED-9590-532AA721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21174"/>
            <a:ext cx="583387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AA6"/>
          </a:solidFill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5A9E9CAC-468F-43CD-85B2-EF3E6CB0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21174"/>
            <a:ext cx="5833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P2</a:t>
            </a:r>
            <a:endParaRPr sz="90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987304A0-0B2F-405A-9E9B-305F2190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745736"/>
            <a:ext cx="572414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Validate APAC regulatory hypothesis</a:t>
            </a:r>
            <a:endParaRPr sz="105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F9A84011-2F02-4B9F-946A-A1B2265C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745736"/>
            <a:ext cx="266090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Regulatory Affairs</a:t>
            </a:r>
            <a:endParaRPr sz="95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46DE4CEC-228B-4EE7-AFA6-C0C1B2C9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4745736"/>
            <a:ext cx="124358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15–45 days</a:t>
            </a:r>
            <a:endParaRPr sz="95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717618D8-EFE3-4808-AC47-B5FB90B8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44084"/>
            <a:ext cx="11064240" cy="406908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5FCBDCF0-4AAA-4ADB-87F8-FB99DD8F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19522"/>
            <a:ext cx="583387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A3B8"/>
          </a:solidFill>
        </p:spPr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D2B5F808-1BE5-4E6C-BA8C-FFB1760A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19522"/>
            <a:ext cx="5833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P1</a:t>
            </a:r>
            <a:endParaRPr sz="9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C6816759-EF28-4324-AA12-2D160256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5244084"/>
            <a:ext cx="572414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Monitor competitors, EUCAN needs, administration themes</a:t>
            </a:r>
            <a:endParaRPr sz="105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3A103FDB-B4D5-43E0-B2F8-C503C14B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44084"/>
            <a:ext cx="266090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Competitive Intel / Med Affairs</a:t>
            </a:r>
            <a:endParaRPr sz="95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F8EA0A96-FA5E-46AD-9E0D-684DC922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5244084"/>
            <a:ext cx="124358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Ongoing</a:t>
            </a:r>
            <a:endParaRPr sz="950"/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3E2E73EA-C277-4DCE-B28F-FB7F95BA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15584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8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P1 monitoring queue also tracks: Axelion Phase III timing rumor, EUCAN OS-maturity perspective, Dato-DXd developments, rechallenge FAQ inclusion, infusion/SubQ interest, and durability discussion (pending duplicate-record adjustment).</a:t>
            </a:r>
            <a:endParaRPr sz="85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A431EC1E-7D98-4BC0-9812-34AA7A3B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9AA3B8"/>
                </a:solidFill>
                <a:latin typeface="Calibri"/>
                <a:ea typeface="Calibri"/>
                <a:cs typeface="Calibri"/>
              </a:rPr>
              <a:t>Next Steps</a:t>
            </a:r>
            <a:endParaRPr sz="900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B1C8A4B4-B97E-493A-B2F3-7B51C41B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895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3B8"/>
                </a:solidFill>
                <a:latin typeface="Calibri"/>
                <a:ea typeface="Calibri"/>
                <a:cs typeface="Calibri"/>
              </a:rPr>
              <a:t>CONFIDENTIAL — INTERNAL USE ONLY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267090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2026-08-09T21:45:25.3690000Z</dcterms:created>
  <dcterms:modified xsi:type="dcterms:W3CDTF">2026-08-09T21:45:25.3690000Z</dcterms:modified>
</coreProperties>
</file>