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55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5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8F"/>
                </a:solidFill>
              </a:rPr>
              <a:t>ORIVUS THERAPEUTICS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3C"/>
                </a:solidFill>
              </a:rPr>
              <a:t>Key Intelligence Topics &amp; Questions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5C8F"/>
                </a:solidFill>
              </a:rPr>
              <a:t>OVT-209 (orvitinib) at ASCO 2025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D7E"/>
                </a:solidFill>
              </a:rPr>
              <a:t>NSCLC Phase II Data Readout | May 30 – June 3,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54864" cy="914400"/>
          </a:xfrm>
          <a:prstGeom prst="rect">
            <a:avLst/>
          </a:prstGeom>
          <a:solidFill>
            <a:srgbClr val="0D5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</a:rPr>
              <a:t>ASCO 2025 Data Presentation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D7E"/>
                </a:solidFill>
              </a:rPr>
              <a:t>OVT-209 Phase II results in 2L+ NSCLC will be presented as an oral presentation. Key endpoints include ORR, PFS, and safety profile vs. historical docetaxel benchmarks.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US Medical Affairs | Confidential –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5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</a:rPr>
              <a:t>Context: OVT-209 NSCLC Program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657600" cy="1280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8F"/>
                </a:solidFill>
              </a:rPr>
              <a:t>ASCO 2025 DATA PACKAGE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Indication: </a:t>
            </a:r>
            <a:r>
              <a:rPr lang="en-US" sz="1000" dirty="0">
                <a:solidFill>
                  <a:srgbClr val="1A2B3C"/>
                </a:solidFill>
              </a:rPr>
              <a:t>2L+ NSCLC (post-IO)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Study: </a:t>
            </a:r>
            <a:r>
              <a:rPr lang="en-US" sz="1000" dirty="0">
                <a:solidFill>
                  <a:srgbClr val="1A2B3C"/>
                </a:solidFill>
              </a:rPr>
              <a:t>OVT-209-201 Phase II (N=186)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Primary: </a:t>
            </a:r>
            <a:r>
              <a:rPr lang="en-US" sz="1000" dirty="0">
                <a:solidFill>
                  <a:srgbClr val="1A2B3C"/>
                </a:solidFill>
              </a:rPr>
              <a:t>ORR by BICR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3C"/>
                </a:solidFill>
              </a:rPr>
              <a:t>Secondary: </a:t>
            </a:r>
            <a:r>
              <a:rPr lang="en-US" sz="1000" dirty="0">
                <a:solidFill>
                  <a:srgbClr val="1A2B3C"/>
                </a:solidFill>
              </a:rPr>
              <a:t>PFS, DoR,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8F"/>
                </a:solidFill>
              </a:rPr>
              <a:t>HISTORICAL BENCHMARKS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D7E"/>
                </a:solidFill>
              </a:rPr>
              <a:t>Docetaxel (SOC): </a:t>
            </a:r>
            <a:r>
              <a:rPr lang="en-US" sz="1000" dirty="0">
                <a:solidFill>
                  <a:srgbClr val="5A6D7E"/>
                </a:solidFill>
              </a:rPr>
              <a:t>ORR ~15%, PFS ~4 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D7E"/>
                </a:solidFill>
              </a:rPr>
              <a:t>Target profile: </a:t>
            </a:r>
            <a:r>
              <a:rPr lang="en-US" sz="1000" dirty="0">
                <a:solidFill>
                  <a:srgbClr val="5A6D7E"/>
                </a:solidFill>
              </a:rPr>
              <a:t>ORR &gt;35%, PFS &gt;6 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5C8F"/>
                </a:solidFill>
              </a:rPr>
              <a:t>COMPETITIVE LANDSCAPE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0"/>
          <a:ext cx="429768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Asset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8B57"/>
                          </a:solidFill>
                        </a:rPr>
                        <a:t>OVT-209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Orivus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 II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ADC, novel 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Lunexorimab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Axelion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 II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ADC competitor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Dato-DXd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Daiichi Sankyo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Ph III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TROP2 ADC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Tagrisso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AstraZeneca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Approved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EGFR TKI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389120" y="2834640"/>
            <a:ext cx="4297680" cy="457200"/>
          </a:xfrm>
          <a:prstGeom prst="rect">
            <a:avLst/>
          </a:prstGeom>
          <a:solidFill>
            <a:srgbClr val="FFF8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89120" y="2834640"/>
            <a:ext cx="45720" cy="4572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2628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B3C"/>
                </a:solidFill>
              </a:rPr>
              <a:t>Note: </a:t>
            </a:r>
            <a:r>
              <a:rPr lang="en-US" sz="900" dirty="0">
                <a:solidFill>
                  <a:srgbClr val="1A2B3C"/>
                </a:solidFill>
              </a:rPr>
              <a:t>Lunexorimab presents in same ASCO session. Head-to-head positioning critical.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US Medical Affairs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5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</a:rPr>
              <a:t>KITs &amp; KIQs for OVT-209 at ASCO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560320" cy="320040"/>
          </a:xfrm>
          <a:prstGeom prst="rect">
            <a:avLst/>
          </a:prstGeom>
          <a:solidFill>
            <a:srgbClr val="0D5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KIT 1: Clinical Efficacy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Understand KOL reception of Phase II efficacy data vs current SOC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8229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669280" cy="320040"/>
          </a:xfrm>
          <a:prstGeom prst="rect">
            <a:avLst/>
          </a:prstGeom>
          <a:solidFill>
            <a:srgbClr val="0D5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Intelligence Questions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1.1  How is ORR/PFS data received vs docetaxel benchmarks? What thresholds are practice-changing?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1.2  What questions exist about durability of response? Concerns about data maturity?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56032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560320" cy="320040"/>
          </a:xfrm>
          <a:prstGeom prst="rect">
            <a:avLst/>
          </a:prstGeom>
          <a:solidFill>
            <a:srgbClr val="0D5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KIT 2: Safety &amp; Tolerability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Assess KOL perceptions of safety profile, particularly ILD and AE management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246888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17520" y="2468880"/>
            <a:ext cx="5669280" cy="320040"/>
          </a:xfrm>
          <a:prstGeom prst="rect">
            <a:avLst/>
          </a:prstGeom>
          <a:solidFill>
            <a:srgbClr val="0D5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Intelligence Questions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2.1  What concerns exist around ILD rates? What monitoring protocols do KOLs expect?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2.2  How does tolerability (nausea, fatigue, infusion) compare to competitor ADCs?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US Medical Affairs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5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3C"/>
                </a:solidFill>
              </a:rPr>
              <a:t>KITs &amp; KIQs for OVT-209 at ASCO 2025 (cont.)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560320" cy="320040"/>
          </a:xfrm>
          <a:prstGeom prst="rect">
            <a:avLst/>
          </a:prstGeom>
          <a:solidFill>
            <a:srgbClr val="0D5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KIT 3: Competitive Positioning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Understand how KOLs compare OVT-209 to other ADCs in 2L+ NSCLC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0" y="8229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822960"/>
            <a:ext cx="5669280" cy="320040"/>
          </a:xfrm>
          <a:prstGeom prst="rect">
            <a:avLst/>
          </a:prstGeom>
          <a:solidFill>
            <a:srgbClr val="0D5C8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Intelligence Questions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3.1  How is OVT-209 positioned vs Lunexorimab and Dato-DXd? What differentiators resonate most?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Tag MSL insights to specific KIQs for structured analysis.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D7E"/>
                </a:solidFill>
              </a:rPr>
              <a:t>US Medical Affairs |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366</Words>
  <Application>Microsoft Macintosh PowerPoint</Application>
  <PresentationFormat>On-screen Show (16:9)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OVT-209 KITs and KIQs - ASCO 2025</dc:title>
  <dc:subject>PptxGenJS Presentation</dc:subject>
  <dc:creator>Orivus Therapeutics</dc:creator>
  <cp:lastModifiedBy>Hannah Frankl</cp:lastModifiedBy>
  <cp:revision>2</cp:revision>
  <dcterms:created xsi:type="dcterms:W3CDTF">2025-12-19T05:05:44Z</dcterms:created>
  <dcterms:modified xsi:type="dcterms:W3CDTF">2026-04-26T19:39:27Z</dcterms:modified>
</cp:coreProperties>
</file>