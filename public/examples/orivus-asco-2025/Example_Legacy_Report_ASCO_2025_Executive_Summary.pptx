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p:scale>
          <a:sx n="131" d="100"/>
          <a:sy n="131" d="100"/>
        </p:scale>
        <p:origin x="416" y="8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1354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C0A0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2400"/>
          </a:solidFill>
          <a:ln w="12700">
            <a:solidFill>
              <a:srgbClr val="FF2400"/>
            </a:solidFill>
            <a:prstDash val="solid"/>
          </a:ln>
        </p:spPr>
        <p:txBody>
          <a:bodyPr/>
          <a:lstStyle/>
          <a:p>
            <a:endParaRPr lang="en-US">
              <a:latin typeface="Poppins" pitchFamily="2" charset="77"/>
              <a:cs typeface="Poppins" pitchFamily="2" charset="77"/>
            </a:endParaRPr>
          </a:p>
        </p:txBody>
      </p:sp>
      <p:sp>
        <p:nvSpPr>
          <p:cNvPr id="3" name="Shape 1"/>
          <p:cNvSpPr/>
          <p:nvPr/>
        </p:nvSpPr>
        <p:spPr>
          <a:xfrm>
            <a:off x="502920" y="1280160"/>
            <a:ext cx="54864" cy="2377440"/>
          </a:xfrm>
          <a:prstGeom prst="rect">
            <a:avLst/>
          </a:prstGeom>
          <a:solidFill>
            <a:srgbClr val="FA8072"/>
          </a:solidFill>
          <a:ln w="12700">
            <a:solidFill>
              <a:srgbClr val="FA8072"/>
            </a:solidFill>
            <a:prstDash val="solid"/>
          </a:ln>
        </p:spPr>
        <p:txBody>
          <a:bodyPr/>
          <a:lstStyle/>
          <a:p>
            <a:endParaRPr lang="en-US">
              <a:latin typeface="Poppins" pitchFamily="2" charset="77"/>
              <a:cs typeface="Poppins" pitchFamily="2" charset="77"/>
            </a:endParaRPr>
          </a:p>
        </p:txBody>
      </p:sp>
      <p:sp>
        <p:nvSpPr>
          <p:cNvPr id="4" name="Text 2"/>
          <p:cNvSpPr/>
          <p:nvPr/>
        </p:nvSpPr>
        <p:spPr>
          <a:xfrm>
            <a:off x="731520" y="1188720"/>
            <a:ext cx="7772400" cy="548640"/>
          </a:xfrm>
          <a:prstGeom prst="rect">
            <a:avLst/>
          </a:prstGeom>
          <a:noFill/>
          <a:ln/>
        </p:spPr>
        <p:txBody>
          <a:bodyPr wrap="square" rtlCol="0" anchor="ctr"/>
          <a:lstStyle/>
          <a:p>
            <a:pPr marL="0" indent="0">
              <a:buNone/>
            </a:pPr>
            <a:r>
              <a:rPr lang="en-US" sz="1600" kern="0" spc="600" dirty="0">
                <a:solidFill>
                  <a:srgbClr val="FA8072"/>
                </a:solidFill>
                <a:latin typeface="Poppins" pitchFamily="2" charset="77"/>
                <a:ea typeface="Calibri" pitchFamily="34" charset="-122"/>
                <a:cs typeface="Poppins" pitchFamily="2" charset="77"/>
              </a:rPr>
              <a:t>ASCO 2025</a:t>
            </a:r>
            <a:endParaRPr lang="en-US" sz="1600" dirty="0">
              <a:latin typeface="Poppins" pitchFamily="2" charset="77"/>
              <a:cs typeface="Poppins" pitchFamily="2" charset="77"/>
            </a:endParaRPr>
          </a:p>
        </p:txBody>
      </p:sp>
      <p:sp>
        <p:nvSpPr>
          <p:cNvPr id="5" name="Text 3"/>
          <p:cNvSpPr/>
          <p:nvPr/>
        </p:nvSpPr>
        <p:spPr>
          <a:xfrm>
            <a:off x="731520" y="1691640"/>
            <a:ext cx="7772400" cy="914400"/>
          </a:xfrm>
          <a:prstGeom prst="rect">
            <a:avLst/>
          </a:prstGeom>
          <a:noFill/>
          <a:ln/>
        </p:spPr>
        <p:txBody>
          <a:bodyPr wrap="square" rtlCol="0" anchor="ctr"/>
          <a:lstStyle/>
          <a:p>
            <a:pPr marL="0" indent="0">
              <a:buNone/>
            </a:pPr>
            <a:r>
              <a:rPr lang="en-US" sz="3600" b="1" dirty="0">
                <a:solidFill>
                  <a:srgbClr val="FFFFFF"/>
                </a:solidFill>
                <a:latin typeface="Poppins" pitchFamily="2" charset="77"/>
                <a:ea typeface="Calibri" pitchFamily="34" charset="-122"/>
                <a:cs typeface="Poppins" pitchFamily="2" charset="77"/>
              </a:rPr>
              <a:t>Executive Intelligence Summary</a:t>
            </a:r>
            <a:endParaRPr lang="en-US" sz="3600" dirty="0">
              <a:latin typeface="Poppins" pitchFamily="2" charset="77"/>
              <a:cs typeface="Poppins" pitchFamily="2" charset="77"/>
            </a:endParaRPr>
          </a:p>
        </p:txBody>
      </p:sp>
      <p:sp>
        <p:nvSpPr>
          <p:cNvPr id="6" name="Text 4"/>
          <p:cNvSpPr/>
          <p:nvPr/>
        </p:nvSpPr>
        <p:spPr>
          <a:xfrm>
            <a:off x="731520" y="2606040"/>
            <a:ext cx="7772400" cy="457200"/>
          </a:xfrm>
          <a:prstGeom prst="rect">
            <a:avLst/>
          </a:prstGeom>
          <a:noFill/>
          <a:ln/>
        </p:spPr>
        <p:txBody>
          <a:bodyPr wrap="square" rtlCol="0" anchor="ctr"/>
          <a:lstStyle/>
          <a:p>
            <a:pPr marL="0" indent="0">
              <a:buNone/>
            </a:pPr>
            <a:r>
              <a:rPr lang="en-US" sz="2200" dirty="0">
                <a:solidFill>
                  <a:srgbClr val="FA8072"/>
                </a:solidFill>
                <a:latin typeface="Poppins" pitchFamily="2" charset="77"/>
                <a:ea typeface="Calibri" pitchFamily="34" charset="-122"/>
                <a:cs typeface="Poppins" pitchFamily="2" charset="77"/>
              </a:rPr>
              <a:t>OVT-209 | NSCLC Program</a:t>
            </a:r>
            <a:endParaRPr lang="en-US" sz="2200" dirty="0">
              <a:latin typeface="Poppins" pitchFamily="2" charset="77"/>
              <a:cs typeface="Poppins" pitchFamily="2" charset="77"/>
            </a:endParaRPr>
          </a:p>
        </p:txBody>
      </p:sp>
      <p:sp>
        <p:nvSpPr>
          <p:cNvPr id="7" name="Shape 5"/>
          <p:cNvSpPr/>
          <p:nvPr/>
        </p:nvSpPr>
        <p:spPr>
          <a:xfrm>
            <a:off x="0" y="4114800"/>
            <a:ext cx="9144000" cy="1028700"/>
          </a:xfrm>
          <a:prstGeom prst="rect">
            <a:avLst/>
          </a:prstGeom>
          <a:solidFill>
            <a:srgbClr val="D30000"/>
          </a:solidFill>
          <a:ln w="12700">
            <a:solidFill>
              <a:srgbClr val="D30000"/>
            </a:solidFill>
            <a:prstDash val="solid"/>
          </a:ln>
        </p:spPr>
        <p:txBody>
          <a:bodyPr/>
          <a:lstStyle/>
          <a:p>
            <a:endParaRPr lang="en-US">
              <a:latin typeface="Poppins" pitchFamily="2" charset="77"/>
              <a:cs typeface="Poppins" pitchFamily="2" charset="77"/>
            </a:endParaRPr>
          </a:p>
        </p:txBody>
      </p:sp>
      <p:sp>
        <p:nvSpPr>
          <p:cNvPr id="9" name="Text 7"/>
          <p:cNvSpPr/>
          <p:nvPr/>
        </p:nvSpPr>
        <p:spPr>
          <a:xfrm>
            <a:off x="457200" y="4526280"/>
            <a:ext cx="8229600" cy="320040"/>
          </a:xfrm>
          <a:prstGeom prst="rect">
            <a:avLst/>
          </a:prstGeom>
          <a:noFill/>
          <a:ln/>
        </p:spPr>
        <p:txBody>
          <a:bodyPr wrap="square" rtlCol="0" anchor="ctr"/>
          <a:lstStyle/>
          <a:p>
            <a:pPr marL="0" indent="0">
              <a:buNone/>
            </a:pPr>
            <a:r>
              <a:rPr lang="en-US" sz="1000" dirty="0">
                <a:solidFill>
                  <a:srgbClr val="FFBBBB"/>
                </a:solidFill>
                <a:latin typeface="Poppins" pitchFamily="2" charset="77"/>
                <a:ea typeface="Calibri" pitchFamily="34" charset="-122"/>
                <a:cs typeface="Poppins" pitchFamily="2" charset="77"/>
              </a:rPr>
              <a:t>June 3, 2025  |  CONFIDENTIAL – INTERNAL USE ONLY</a:t>
            </a:r>
            <a:endParaRPr lang="en-US" sz="1000" dirty="0">
              <a:latin typeface="Poppins" pitchFamily="2" charset="77"/>
              <a:cs typeface="Poppins" pitchFamily="2" charset="77"/>
            </a:endParaRPr>
          </a:p>
        </p:txBody>
      </p:sp>
      <p:sp>
        <p:nvSpPr>
          <p:cNvPr id="10" name="Shape 8"/>
          <p:cNvSpPr/>
          <p:nvPr/>
        </p:nvSpPr>
        <p:spPr>
          <a:xfrm>
            <a:off x="7207404" y="200276"/>
            <a:ext cx="1828800" cy="365760"/>
          </a:xfrm>
          <a:prstGeom prst="roundRect">
            <a:avLst>
              <a:gd name="adj" fmla="val 25000"/>
            </a:avLst>
          </a:prstGeom>
          <a:solidFill>
            <a:srgbClr val="FF2400">
              <a:alpha val="70000"/>
            </a:srgbClr>
          </a:solidFill>
          <a:ln w="12700">
            <a:solidFill>
              <a:srgbClr val="FF2400"/>
            </a:solidFill>
            <a:prstDash val="solid"/>
          </a:ln>
        </p:spPr>
        <p:txBody>
          <a:bodyPr/>
          <a:lstStyle/>
          <a:p>
            <a:endParaRPr lang="en-US">
              <a:latin typeface="Poppins" pitchFamily="2" charset="77"/>
              <a:cs typeface="Poppins" pitchFamily="2" charset="77"/>
            </a:endParaRPr>
          </a:p>
        </p:txBody>
      </p:sp>
      <p:sp>
        <p:nvSpPr>
          <p:cNvPr id="11" name="Text 9"/>
          <p:cNvSpPr/>
          <p:nvPr/>
        </p:nvSpPr>
        <p:spPr>
          <a:xfrm>
            <a:off x="7207404" y="200276"/>
            <a:ext cx="1828800" cy="365760"/>
          </a:xfrm>
          <a:prstGeom prst="rect">
            <a:avLst/>
          </a:prstGeom>
          <a:noFill/>
          <a:ln/>
        </p:spPr>
        <p:txBody>
          <a:bodyPr wrap="square" rtlCol="0" anchor="ctr"/>
          <a:lstStyle/>
          <a:p>
            <a:pPr marL="0" indent="0" algn="ctr">
              <a:buNone/>
            </a:pPr>
            <a:r>
              <a:rPr lang="en-US" sz="900" b="1" dirty="0">
                <a:solidFill>
                  <a:srgbClr val="FFFFFF"/>
                </a:solidFill>
                <a:latin typeface="Poppins" pitchFamily="2" charset="77"/>
                <a:ea typeface="Calibri" pitchFamily="34" charset="-122"/>
                <a:cs typeface="Poppins" pitchFamily="2" charset="77"/>
              </a:rPr>
              <a:t>FIELD INTELLIGENCE</a:t>
            </a:r>
            <a:endParaRPr lang="en-US" sz="900" dirty="0">
              <a:latin typeface="Poppins" pitchFamily="2" charset="77"/>
              <a:cs typeface="Poppins" pitchFamily="2"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D30000"/>
          </a:solidFill>
          <a:ln w="12700">
            <a:solidFill>
              <a:srgbClr val="D30000"/>
            </a:solidFill>
            <a:prstDash val="solid"/>
          </a:ln>
        </p:spPr>
        <p:txBody>
          <a:bodyPr/>
          <a:lstStyle/>
          <a:p>
            <a:endParaRPr lang="en-US">
              <a:latin typeface="Poppins" pitchFamily="2" charset="77"/>
              <a:cs typeface="Poppins" pitchFamily="2" charset="77"/>
            </a:endParaRPr>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000" b="1" dirty="0">
                <a:solidFill>
                  <a:srgbClr val="FFFFFF"/>
                </a:solidFill>
                <a:latin typeface="Poppins" pitchFamily="2" charset="77"/>
                <a:ea typeface="Calibri" pitchFamily="34" charset="-122"/>
                <a:cs typeface="Poppins" pitchFamily="2" charset="77"/>
              </a:rPr>
              <a:t>OVT-209 Clinical Data Reception at ASCO 2025</a:t>
            </a:r>
            <a:endParaRPr lang="en-US" sz="2000" dirty="0">
              <a:latin typeface="Poppins" pitchFamily="2" charset="77"/>
              <a:cs typeface="Poppins" pitchFamily="2" charset="77"/>
            </a:endParaRPr>
          </a:p>
        </p:txBody>
      </p:sp>
      <p:sp>
        <p:nvSpPr>
          <p:cNvPr id="4" name="Text 2"/>
          <p:cNvSpPr/>
          <p:nvPr/>
        </p:nvSpPr>
        <p:spPr>
          <a:xfrm>
            <a:off x="7498080" y="0"/>
            <a:ext cx="1463040" cy="685800"/>
          </a:xfrm>
          <a:prstGeom prst="rect">
            <a:avLst/>
          </a:prstGeom>
          <a:noFill/>
          <a:ln/>
        </p:spPr>
        <p:txBody>
          <a:bodyPr wrap="square" rtlCol="0" anchor="ctr"/>
          <a:lstStyle/>
          <a:p>
            <a:pPr marL="0" indent="0" algn="r">
              <a:buNone/>
            </a:pPr>
            <a:r>
              <a:rPr lang="en-US" sz="1100" dirty="0">
                <a:solidFill>
                  <a:srgbClr val="FA8072"/>
                </a:solidFill>
                <a:latin typeface="Poppins" pitchFamily="2" charset="77"/>
                <a:ea typeface="Calibri" pitchFamily="34" charset="-122"/>
                <a:cs typeface="Poppins" pitchFamily="2" charset="77"/>
              </a:rPr>
              <a:t>Abstract #8502</a:t>
            </a:r>
            <a:endParaRPr lang="en-US" sz="1100" dirty="0">
              <a:latin typeface="Poppins" pitchFamily="2" charset="77"/>
              <a:cs typeface="Poppins" pitchFamily="2" charset="77"/>
            </a:endParaRPr>
          </a:p>
        </p:txBody>
      </p:sp>
      <p:sp>
        <p:nvSpPr>
          <p:cNvPr id="5" name="Shape 3"/>
          <p:cNvSpPr/>
          <p:nvPr/>
        </p:nvSpPr>
        <p:spPr>
          <a:xfrm>
            <a:off x="365760" y="822960"/>
            <a:ext cx="4023360" cy="347472"/>
          </a:xfrm>
          <a:prstGeom prst="rect">
            <a:avLst/>
          </a:prstGeom>
          <a:solidFill>
            <a:srgbClr val="7C0A02"/>
          </a:solidFill>
          <a:ln w="12700">
            <a:solidFill>
              <a:srgbClr val="7C0A02"/>
            </a:solidFill>
            <a:prstDash val="solid"/>
          </a:ln>
        </p:spPr>
        <p:txBody>
          <a:bodyPr/>
          <a:lstStyle/>
          <a:p>
            <a:endParaRPr lang="en-US">
              <a:latin typeface="Poppins" pitchFamily="2" charset="77"/>
              <a:cs typeface="Poppins" pitchFamily="2" charset="77"/>
            </a:endParaRPr>
          </a:p>
        </p:txBody>
      </p:sp>
      <p:sp>
        <p:nvSpPr>
          <p:cNvPr id="6" name="Text 4"/>
          <p:cNvSpPr/>
          <p:nvPr/>
        </p:nvSpPr>
        <p:spPr>
          <a:xfrm>
            <a:off x="365760" y="822960"/>
            <a:ext cx="4023360" cy="347472"/>
          </a:xfrm>
          <a:prstGeom prst="rect">
            <a:avLst/>
          </a:prstGeom>
          <a:noFill/>
          <a:ln/>
        </p:spPr>
        <p:txBody>
          <a:bodyPr wrap="square" rtlCol="0" anchor="ctr"/>
          <a:lstStyle/>
          <a:p>
            <a:pPr marL="0" indent="0" algn="ctr">
              <a:buNone/>
            </a:pPr>
            <a:r>
              <a:rPr lang="en-US" sz="900" b="1" dirty="0">
                <a:solidFill>
                  <a:srgbClr val="FFFFFF"/>
                </a:solidFill>
                <a:latin typeface="Poppins" pitchFamily="2" charset="77"/>
                <a:ea typeface="Calibri" pitchFamily="34" charset="-122"/>
                <a:cs typeface="Poppins" pitchFamily="2" charset="77"/>
              </a:rPr>
              <a:t>PRESENTATION ATTENDANCE &amp; DATA HIGHLIGHTS</a:t>
            </a:r>
            <a:endParaRPr lang="en-US" sz="900" dirty="0">
              <a:latin typeface="Poppins" pitchFamily="2" charset="77"/>
              <a:cs typeface="Poppins" pitchFamily="2" charset="77"/>
            </a:endParaRPr>
          </a:p>
        </p:txBody>
      </p:sp>
      <p:sp>
        <p:nvSpPr>
          <p:cNvPr id="7" name="Text 5"/>
          <p:cNvSpPr/>
          <p:nvPr/>
        </p:nvSpPr>
        <p:spPr>
          <a:xfrm>
            <a:off x="365760" y="1207008"/>
            <a:ext cx="4023360" cy="2560320"/>
          </a:xfrm>
          <a:prstGeom prst="rect">
            <a:avLst/>
          </a:prstGeom>
          <a:noFill/>
          <a:ln/>
        </p:spPr>
        <p:txBody>
          <a:bodyPr wrap="square" rtlCol="0" anchor="ctr"/>
          <a:lstStyle/>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Session attendance: </a:t>
            </a:r>
            <a:r>
              <a:rPr lang="en-US" sz="1150" dirty="0">
                <a:solidFill>
                  <a:srgbClr val="1A1A1A"/>
                </a:solidFill>
                <a:latin typeface="Poppins" pitchFamily="2" charset="77"/>
                <a:ea typeface="Calibri" pitchFamily="34" charset="-122"/>
                <a:cs typeface="Poppins" pitchFamily="2" charset="77"/>
              </a:rPr>
              <a:t>Room was ~70% full</a:t>
            </a:r>
            <a:endParaRPr lang="en-US" sz="1150" dirty="0">
              <a:latin typeface="Poppins" pitchFamily="2" charset="77"/>
              <a:cs typeface="Poppins" pitchFamily="2" charset="77"/>
            </a:endParaRPr>
          </a:p>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ORR of 47% (95% CI: 39–55%): </a:t>
            </a:r>
            <a:r>
              <a:rPr lang="en-US" sz="1150" dirty="0">
                <a:solidFill>
                  <a:srgbClr val="1A1A1A"/>
                </a:solidFill>
                <a:latin typeface="Poppins" pitchFamily="2" charset="77"/>
                <a:ea typeface="Calibri" pitchFamily="34" charset="-122"/>
                <a:cs typeface="Poppins" pitchFamily="2" charset="77"/>
              </a:rPr>
              <a:t>Mentioned 1 time; noted audible audience reactions</a:t>
            </a:r>
            <a:endParaRPr lang="en-US" sz="1150" dirty="0">
              <a:latin typeface="Poppins" pitchFamily="2" charset="77"/>
              <a:cs typeface="Poppins" pitchFamily="2" charset="77"/>
            </a:endParaRPr>
          </a:p>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Median PFS 7.2 months: </a:t>
            </a:r>
            <a:r>
              <a:rPr lang="en-US" sz="1150" dirty="0">
                <a:solidFill>
                  <a:srgbClr val="1A1A1A"/>
                </a:solidFill>
                <a:latin typeface="Poppins" pitchFamily="2" charset="77"/>
                <a:ea typeface="Calibri" pitchFamily="34" charset="-122"/>
                <a:cs typeface="Poppins" pitchFamily="2" charset="77"/>
              </a:rPr>
              <a:t>Cited 1 time; noted as meaningful vs. SOC (~4 months)</a:t>
            </a:r>
            <a:endParaRPr lang="en-US" sz="1150" dirty="0">
              <a:latin typeface="Poppins" pitchFamily="2" charset="77"/>
              <a:cs typeface="Poppins" pitchFamily="2" charset="77"/>
            </a:endParaRPr>
          </a:p>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Duration of response: </a:t>
            </a:r>
            <a:r>
              <a:rPr lang="en-US" sz="1150" dirty="0">
                <a:solidFill>
                  <a:srgbClr val="1A1A1A"/>
                </a:solidFill>
                <a:latin typeface="Poppins" pitchFamily="2" charset="77"/>
                <a:ea typeface="Calibri" pitchFamily="34" charset="-122"/>
                <a:cs typeface="Poppins" pitchFamily="2" charset="77"/>
              </a:rPr>
              <a:t>Median not reached; cited 1 time as early durability signal</a:t>
            </a:r>
            <a:endParaRPr lang="en-US" sz="1150" dirty="0">
              <a:latin typeface="Poppins" pitchFamily="2" charset="77"/>
              <a:cs typeface="Poppins" pitchFamily="2" charset="77"/>
            </a:endParaRPr>
          </a:p>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EGFR wild-type subgroup signal: </a:t>
            </a:r>
            <a:r>
              <a:rPr lang="en-US" sz="1150" dirty="0">
                <a:solidFill>
                  <a:srgbClr val="1A1A1A"/>
                </a:solidFill>
                <a:latin typeface="Poppins" pitchFamily="2" charset="77"/>
                <a:ea typeface="Calibri" pitchFamily="34" charset="-122"/>
                <a:cs typeface="Poppins" pitchFamily="2" charset="77"/>
              </a:rPr>
              <a:t>Mentioned 1 time during Q&amp;A; noted by multiple KOLs who were observed writing it down</a:t>
            </a:r>
            <a:endParaRPr lang="en-US" sz="1150" dirty="0">
              <a:latin typeface="Poppins" pitchFamily="2" charset="77"/>
              <a:cs typeface="Poppins" pitchFamily="2" charset="77"/>
            </a:endParaRPr>
          </a:p>
        </p:txBody>
      </p:sp>
      <p:sp>
        <p:nvSpPr>
          <p:cNvPr id="8" name="Shape 6"/>
          <p:cNvSpPr/>
          <p:nvPr/>
        </p:nvSpPr>
        <p:spPr>
          <a:xfrm>
            <a:off x="4754880" y="822960"/>
            <a:ext cx="4023360" cy="347472"/>
          </a:xfrm>
          <a:prstGeom prst="rect">
            <a:avLst/>
          </a:prstGeom>
          <a:solidFill>
            <a:srgbClr val="FF2400"/>
          </a:solidFill>
          <a:ln w="12700">
            <a:solidFill>
              <a:srgbClr val="FF2400"/>
            </a:solidFill>
            <a:prstDash val="solid"/>
          </a:ln>
        </p:spPr>
        <p:txBody>
          <a:bodyPr/>
          <a:lstStyle/>
          <a:p>
            <a:endParaRPr lang="en-US">
              <a:latin typeface="Poppins" pitchFamily="2" charset="77"/>
              <a:cs typeface="Poppins" pitchFamily="2" charset="77"/>
            </a:endParaRPr>
          </a:p>
        </p:txBody>
      </p:sp>
      <p:sp>
        <p:nvSpPr>
          <p:cNvPr id="9" name="Text 7"/>
          <p:cNvSpPr/>
          <p:nvPr/>
        </p:nvSpPr>
        <p:spPr>
          <a:xfrm>
            <a:off x="4754880" y="822960"/>
            <a:ext cx="4023360" cy="347472"/>
          </a:xfrm>
          <a:prstGeom prst="rect">
            <a:avLst/>
          </a:prstGeom>
          <a:noFill/>
          <a:ln/>
        </p:spPr>
        <p:txBody>
          <a:bodyPr wrap="square" rtlCol="0" anchor="ctr"/>
          <a:lstStyle/>
          <a:p>
            <a:pPr marL="0" indent="0" algn="ctr">
              <a:buNone/>
            </a:pPr>
            <a:r>
              <a:rPr lang="en-US" sz="900" b="1" dirty="0">
                <a:solidFill>
                  <a:srgbClr val="FFFFFF"/>
                </a:solidFill>
                <a:latin typeface="Poppins" pitchFamily="2" charset="77"/>
                <a:ea typeface="Calibri" pitchFamily="34" charset="-122"/>
                <a:cs typeface="Poppins" pitchFamily="2" charset="77"/>
              </a:rPr>
              <a:t>SAFETY PROFILE – KOL SCRUTINY</a:t>
            </a:r>
            <a:endParaRPr lang="en-US" sz="900" dirty="0">
              <a:latin typeface="Poppins" pitchFamily="2" charset="77"/>
              <a:cs typeface="Poppins" pitchFamily="2" charset="77"/>
            </a:endParaRPr>
          </a:p>
        </p:txBody>
      </p:sp>
      <p:sp>
        <p:nvSpPr>
          <p:cNvPr id="10" name="Text 8"/>
          <p:cNvSpPr/>
          <p:nvPr/>
        </p:nvSpPr>
        <p:spPr>
          <a:xfrm>
            <a:off x="4754880" y="1207008"/>
            <a:ext cx="4023360" cy="2560320"/>
          </a:xfrm>
          <a:prstGeom prst="rect">
            <a:avLst/>
          </a:prstGeom>
          <a:noFill/>
          <a:ln/>
        </p:spPr>
        <p:txBody>
          <a:bodyPr wrap="square" rtlCol="0" anchor="ctr"/>
          <a:lstStyle/>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ILD (Grade 2+, 4.2%): </a:t>
            </a:r>
            <a:r>
              <a:rPr lang="en-US" sz="1150" dirty="0">
                <a:solidFill>
                  <a:srgbClr val="1A1A1A"/>
                </a:solidFill>
                <a:latin typeface="Poppins" pitchFamily="2" charset="77"/>
                <a:ea typeface="Calibri" pitchFamily="34" charset="-122"/>
                <a:cs typeface="Poppins" pitchFamily="2" charset="77"/>
              </a:rPr>
              <a:t>Raised in "literally every conversation" per field note (multiple mentions)</a:t>
            </a:r>
            <a:endParaRPr lang="en-US" sz="1150" dirty="0">
              <a:latin typeface="Poppins" pitchFamily="2" charset="77"/>
              <a:cs typeface="Poppins" pitchFamily="2" charset="77"/>
            </a:endParaRPr>
          </a:p>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No Grade 5 ILD events: </a:t>
            </a:r>
            <a:r>
              <a:rPr lang="en-US" sz="1150" dirty="0">
                <a:solidFill>
                  <a:srgbClr val="1A1A1A"/>
                </a:solidFill>
                <a:latin typeface="Poppins" pitchFamily="2" charset="77"/>
                <a:ea typeface="Calibri" pitchFamily="34" charset="-122"/>
                <a:cs typeface="Poppins" pitchFamily="2" charset="77"/>
              </a:rPr>
              <a:t>Noted 1 time as reassuring</a:t>
            </a:r>
            <a:endParaRPr lang="en-US" sz="1150" dirty="0">
              <a:latin typeface="Poppins" pitchFamily="2" charset="77"/>
              <a:cs typeface="Poppins" pitchFamily="2" charset="77"/>
            </a:endParaRPr>
          </a:p>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Grade 3+ AEs of 18%: </a:t>
            </a:r>
            <a:r>
              <a:rPr lang="en-US" sz="1150" dirty="0">
                <a:solidFill>
                  <a:srgbClr val="1A1A1A"/>
                </a:solidFill>
                <a:latin typeface="Poppins" pitchFamily="2" charset="77"/>
                <a:ea typeface="Calibri" pitchFamily="34" charset="-122"/>
                <a:cs typeface="Poppins" pitchFamily="2" charset="77"/>
              </a:rPr>
              <a:t>Cited 1 time; noted as lower than expected for ADC class</a:t>
            </a:r>
            <a:endParaRPr lang="en-US" sz="1150" dirty="0">
              <a:latin typeface="Poppins" pitchFamily="2" charset="77"/>
              <a:cs typeface="Poppins" pitchFamily="2" charset="77"/>
            </a:endParaRPr>
          </a:p>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Nausea, fatigue, peripheral neuropathy: </a:t>
            </a:r>
            <a:r>
              <a:rPr lang="en-US" sz="1150" dirty="0">
                <a:solidFill>
                  <a:srgbClr val="1A1A1A"/>
                </a:solidFill>
                <a:latin typeface="Poppins" pitchFamily="2" charset="77"/>
                <a:ea typeface="Calibri" pitchFamily="34" charset="-122"/>
                <a:cs typeface="Poppins" pitchFamily="2" charset="77"/>
              </a:rPr>
              <a:t>Cited 1 time as main tolerability issues; KOLs generally felt "workable"</a:t>
            </a:r>
            <a:endParaRPr lang="en-US" sz="1150" dirty="0">
              <a:latin typeface="Poppins" pitchFamily="2" charset="77"/>
              <a:cs typeface="Poppins" pitchFamily="2" charset="77"/>
            </a:endParaRPr>
          </a:p>
          <a:p>
            <a:pPr marL="0" indent="0">
              <a:spcAft>
                <a:spcPts val="500"/>
              </a:spcAft>
              <a:buNone/>
            </a:pPr>
            <a:r>
              <a:rPr lang="en-US" sz="1150" b="1" dirty="0">
                <a:solidFill>
                  <a:srgbClr val="1A1A1A"/>
                </a:solidFill>
                <a:latin typeface="Poppins" pitchFamily="2" charset="77"/>
                <a:ea typeface="Calibri" pitchFamily="34" charset="-122"/>
                <a:cs typeface="Poppins" pitchFamily="2" charset="77"/>
              </a:rPr>
              <a:t>ILD monitoring protocol: </a:t>
            </a:r>
            <a:r>
              <a:rPr lang="en-US" sz="1150" dirty="0">
                <a:solidFill>
                  <a:srgbClr val="1A1A1A"/>
                </a:solidFill>
                <a:latin typeface="Poppins" pitchFamily="2" charset="77"/>
                <a:ea typeface="Calibri" pitchFamily="34" charset="-122"/>
                <a:cs typeface="Poppins" pitchFamily="2" charset="77"/>
              </a:rPr>
              <a:t>Directly requested by 1 KOL (Dr. Martinez, MSK) in post-session conversation</a:t>
            </a:r>
            <a:endParaRPr lang="en-US" sz="1150" dirty="0">
              <a:latin typeface="Poppins" pitchFamily="2" charset="77"/>
              <a:cs typeface="Poppins" pitchFamily="2" charset="77"/>
            </a:endParaRPr>
          </a:p>
        </p:txBody>
      </p:sp>
      <p:sp>
        <p:nvSpPr>
          <p:cNvPr id="11" name="Shape 9"/>
          <p:cNvSpPr/>
          <p:nvPr/>
        </p:nvSpPr>
        <p:spPr>
          <a:xfrm>
            <a:off x="0" y="4873752"/>
            <a:ext cx="9144000" cy="269748"/>
          </a:xfrm>
          <a:prstGeom prst="rect">
            <a:avLst/>
          </a:prstGeom>
          <a:solidFill>
            <a:srgbClr val="F5F5F5"/>
          </a:solidFill>
          <a:ln w="12700">
            <a:solidFill>
              <a:srgbClr val="F5F5F5"/>
            </a:solidFill>
            <a:prstDash val="solid"/>
          </a:ln>
        </p:spPr>
        <p:txBody>
          <a:bodyPr/>
          <a:lstStyle/>
          <a:p>
            <a:endParaRPr lang="en-US">
              <a:latin typeface="Poppins" pitchFamily="2" charset="77"/>
              <a:cs typeface="Poppins" pitchFamily="2" charset="77"/>
            </a:endParaRPr>
          </a:p>
        </p:txBody>
      </p:sp>
      <p:sp>
        <p:nvSpPr>
          <p:cNvPr id="12" name="Text 10"/>
          <p:cNvSpPr/>
          <p:nvPr/>
        </p:nvSpPr>
        <p:spPr>
          <a:xfrm>
            <a:off x="365760" y="4873752"/>
            <a:ext cx="8412480" cy="269748"/>
          </a:xfrm>
          <a:prstGeom prst="rect">
            <a:avLst/>
          </a:prstGeom>
          <a:noFill/>
          <a:ln/>
        </p:spPr>
        <p:txBody>
          <a:bodyPr wrap="square" rtlCol="0" anchor="ctr"/>
          <a:lstStyle/>
          <a:p>
            <a:pPr marL="0" indent="0">
              <a:buNone/>
            </a:pPr>
            <a:r>
              <a:rPr lang="en-US" sz="900" dirty="0">
                <a:solidFill>
                  <a:srgbClr val="666666"/>
                </a:solidFill>
                <a:latin typeface="Poppins" pitchFamily="2" charset="77"/>
                <a:ea typeface="Calibri" pitchFamily="34" charset="-122"/>
                <a:cs typeface="Poppins" pitchFamily="2" charset="77"/>
              </a:rPr>
              <a:t>CONFIDENTIAL – INTERNAL USE ONLY  |  ASCO 2025 Field Intelligence</a:t>
            </a:r>
            <a:endParaRPr lang="en-US" sz="900" dirty="0">
              <a:latin typeface="Poppins" pitchFamily="2" charset="77"/>
              <a:cs typeface="Poppins" pitchFamily="2" charset="77"/>
            </a:endParaRPr>
          </a:p>
        </p:txBody>
      </p:sp>
      <p:pic>
        <p:nvPicPr>
          <p:cNvPr id="14" name="Picture 13" descr="A logo with text and a red and black background&#10;&#10;AI-generated content may be incorrect.">
            <a:extLst>
              <a:ext uri="{FF2B5EF4-FFF2-40B4-BE49-F238E27FC236}">
                <a16:creationId xmlns:a16="http://schemas.microsoft.com/office/drawing/2014/main" id="{8BA1614E-DBF4-F24C-F9B5-752F90C0A86F}"/>
              </a:ext>
            </a:extLst>
          </p:cNvPr>
          <p:cNvPicPr>
            <a:picLocks noChangeAspect="1"/>
          </p:cNvPicPr>
          <p:nvPr/>
        </p:nvPicPr>
        <p:blipFill>
          <a:blip r:embed="rId3"/>
          <a:stretch>
            <a:fillRect/>
          </a:stretch>
        </p:blipFill>
        <p:spPr>
          <a:xfrm>
            <a:off x="0" y="4104350"/>
            <a:ext cx="1737360" cy="7694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D30000"/>
          </a:solidFill>
          <a:ln w="12700">
            <a:solidFill>
              <a:srgbClr val="D30000"/>
            </a:solidFill>
            <a:prstDash val="solid"/>
          </a:ln>
        </p:spPr>
        <p:txBody>
          <a:bodyPr/>
          <a:lstStyle/>
          <a:p>
            <a:endParaRPr lang="en-US">
              <a:latin typeface="Poppins" pitchFamily="2" charset="77"/>
              <a:cs typeface="Poppins" pitchFamily="2" charset="77"/>
            </a:endParaRPr>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000" b="1" dirty="0">
                <a:solidFill>
                  <a:srgbClr val="FFFFFF"/>
                </a:solidFill>
                <a:latin typeface="Poppins" pitchFamily="2" charset="77"/>
                <a:ea typeface="Calibri" pitchFamily="34" charset="-122"/>
                <a:cs typeface="Poppins" pitchFamily="2" charset="77"/>
              </a:rPr>
              <a:t>KOL Engagement Summary</a:t>
            </a:r>
            <a:endParaRPr lang="en-US" sz="2000" dirty="0">
              <a:latin typeface="Poppins" pitchFamily="2" charset="77"/>
              <a:cs typeface="Poppins" pitchFamily="2" charset="77"/>
            </a:endParaRPr>
          </a:p>
        </p:txBody>
      </p:sp>
      <p:sp>
        <p:nvSpPr>
          <p:cNvPr id="4" name="Shape 2"/>
          <p:cNvSpPr/>
          <p:nvPr/>
        </p:nvSpPr>
        <p:spPr>
          <a:xfrm>
            <a:off x="320040" y="777240"/>
            <a:ext cx="2834640" cy="457200"/>
          </a:xfrm>
          <a:prstGeom prst="rect">
            <a:avLst/>
          </a:prstGeom>
          <a:solidFill>
            <a:srgbClr val="7C0A02"/>
          </a:solidFill>
          <a:ln w="12700">
            <a:solidFill>
              <a:srgbClr val="7C0A02"/>
            </a:solidFill>
            <a:prstDash val="solid"/>
          </a:ln>
        </p:spPr>
        <p:txBody>
          <a:bodyPr/>
          <a:lstStyle/>
          <a:p>
            <a:endParaRPr lang="en-US">
              <a:latin typeface="Poppins" pitchFamily="2" charset="77"/>
              <a:cs typeface="Poppins" pitchFamily="2" charset="77"/>
            </a:endParaRPr>
          </a:p>
        </p:txBody>
      </p:sp>
      <p:sp>
        <p:nvSpPr>
          <p:cNvPr id="5" name="Text 3"/>
          <p:cNvSpPr/>
          <p:nvPr/>
        </p:nvSpPr>
        <p:spPr>
          <a:xfrm>
            <a:off x="320040" y="777240"/>
            <a:ext cx="2834640" cy="256032"/>
          </a:xfrm>
          <a:prstGeom prst="rect">
            <a:avLst/>
          </a:prstGeom>
          <a:noFill/>
          <a:ln/>
        </p:spPr>
        <p:txBody>
          <a:bodyPr wrap="square" lIns="0" tIns="0" rIns="0" bIns="0" rtlCol="0" anchor="b"/>
          <a:lstStyle/>
          <a:p>
            <a:pPr marL="0" indent="0" algn="ctr">
              <a:buNone/>
            </a:pPr>
            <a:r>
              <a:rPr lang="en-US" sz="1100" b="1" dirty="0">
                <a:solidFill>
                  <a:srgbClr val="FFFFFF"/>
                </a:solidFill>
                <a:latin typeface="Poppins" pitchFamily="2" charset="77"/>
                <a:ea typeface="Calibri" pitchFamily="34" charset="-122"/>
                <a:cs typeface="Poppins" pitchFamily="2" charset="77"/>
              </a:rPr>
              <a:t>Dr. James Okonkwo</a:t>
            </a:r>
            <a:endParaRPr lang="en-US" sz="1100" dirty="0">
              <a:latin typeface="Poppins" pitchFamily="2" charset="77"/>
              <a:cs typeface="Poppins" pitchFamily="2" charset="77"/>
            </a:endParaRPr>
          </a:p>
        </p:txBody>
      </p:sp>
      <p:sp>
        <p:nvSpPr>
          <p:cNvPr id="6" name="Text 4"/>
          <p:cNvSpPr/>
          <p:nvPr/>
        </p:nvSpPr>
        <p:spPr>
          <a:xfrm>
            <a:off x="320040" y="1005840"/>
            <a:ext cx="2834640" cy="228600"/>
          </a:xfrm>
          <a:prstGeom prst="rect">
            <a:avLst/>
          </a:prstGeom>
          <a:noFill/>
          <a:ln/>
        </p:spPr>
        <p:txBody>
          <a:bodyPr wrap="square" lIns="0" tIns="0" rIns="0" bIns="0" rtlCol="0" anchor="t"/>
          <a:lstStyle/>
          <a:p>
            <a:pPr marL="0" indent="0" algn="ctr">
              <a:buNone/>
            </a:pPr>
            <a:r>
              <a:rPr lang="en-US" sz="900" dirty="0">
                <a:solidFill>
                  <a:srgbClr val="FA8072"/>
                </a:solidFill>
                <a:latin typeface="Poppins" pitchFamily="2" charset="77"/>
                <a:ea typeface="Calibri" pitchFamily="34" charset="-122"/>
                <a:cs typeface="Poppins" pitchFamily="2" charset="77"/>
              </a:rPr>
              <a:t>MD Anderson</a:t>
            </a:r>
            <a:endParaRPr lang="en-US" sz="900" dirty="0">
              <a:latin typeface="Poppins" pitchFamily="2" charset="77"/>
              <a:cs typeface="Poppins" pitchFamily="2" charset="77"/>
            </a:endParaRPr>
          </a:p>
        </p:txBody>
      </p:sp>
      <p:sp>
        <p:nvSpPr>
          <p:cNvPr id="7" name="Text 5"/>
          <p:cNvSpPr/>
          <p:nvPr/>
        </p:nvSpPr>
        <p:spPr>
          <a:xfrm>
            <a:off x="320040" y="1298448"/>
            <a:ext cx="2834640" cy="3383280"/>
          </a:xfrm>
          <a:prstGeom prst="rect">
            <a:avLst/>
          </a:prstGeom>
          <a:noFill/>
          <a:ln/>
        </p:spPr>
        <p:txBody>
          <a:bodyPr wrap="square" rtlCol="0" anchor="t"/>
          <a:lstStyle/>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Efficacy data: described as "very positive"</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Sequencing &amp; treatment algorithm fit: raised 1 time as main concern</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Post-IO progression settings (2L vs. 3L+): mentioned 1 time</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EGFR mutant subgroup: asked about 1 time; expressed strong interest</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Phase 3 site participation: expressed openness 1 time</a:t>
            </a:r>
            <a:endParaRPr lang="en-US" sz="1050" dirty="0">
              <a:latin typeface="Poppins" pitchFamily="2" charset="77"/>
              <a:cs typeface="Poppins" pitchFamily="2" charset="77"/>
            </a:endParaRPr>
          </a:p>
        </p:txBody>
      </p:sp>
      <p:sp>
        <p:nvSpPr>
          <p:cNvPr id="8" name="Shape 6"/>
          <p:cNvSpPr/>
          <p:nvPr/>
        </p:nvSpPr>
        <p:spPr>
          <a:xfrm>
            <a:off x="3246120" y="777240"/>
            <a:ext cx="2834640" cy="457200"/>
          </a:xfrm>
          <a:prstGeom prst="rect">
            <a:avLst/>
          </a:prstGeom>
          <a:solidFill>
            <a:srgbClr val="7C0A02"/>
          </a:solidFill>
          <a:ln w="12700">
            <a:solidFill>
              <a:srgbClr val="7C0A02"/>
            </a:solidFill>
            <a:prstDash val="solid"/>
          </a:ln>
        </p:spPr>
        <p:txBody>
          <a:bodyPr/>
          <a:lstStyle/>
          <a:p>
            <a:endParaRPr lang="en-US">
              <a:latin typeface="Poppins" pitchFamily="2" charset="77"/>
              <a:cs typeface="Poppins" pitchFamily="2" charset="77"/>
            </a:endParaRPr>
          </a:p>
        </p:txBody>
      </p:sp>
      <p:sp>
        <p:nvSpPr>
          <p:cNvPr id="9" name="Text 7"/>
          <p:cNvSpPr/>
          <p:nvPr/>
        </p:nvSpPr>
        <p:spPr>
          <a:xfrm>
            <a:off x="3246120" y="777240"/>
            <a:ext cx="2834640" cy="256032"/>
          </a:xfrm>
          <a:prstGeom prst="rect">
            <a:avLst/>
          </a:prstGeom>
          <a:noFill/>
          <a:ln/>
        </p:spPr>
        <p:txBody>
          <a:bodyPr wrap="square" lIns="0" tIns="0" rIns="0" bIns="0" rtlCol="0" anchor="b"/>
          <a:lstStyle/>
          <a:p>
            <a:pPr marL="0" indent="0" algn="ctr">
              <a:buNone/>
            </a:pPr>
            <a:r>
              <a:rPr lang="en-US" sz="1100" b="1" dirty="0">
                <a:solidFill>
                  <a:srgbClr val="FFFFFF"/>
                </a:solidFill>
                <a:latin typeface="Poppins" pitchFamily="2" charset="77"/>
                <a:ea typeface="Calibri" pitchFamily="34" charset="-122"/>
                <a:cs typeface="Poppins" pitchFamily="2" charset="77"/>
              </a:rPr>
              <a:t>Dr. Yuki Tanaka</a:t>
            </a:r>
            <a:endParaRPr lang="en-US" sz="1100" dirty="0">
              <a:latin typeface="Poppins" pitchFamily="2" charset="77"/>
              <a:cs typeface="Poppins" pitchFamily="2" charset="77"/>
            </a:endParaRPr>
          </a:p>
        </p:txBody>
      </p:sp>
      <p:sp>
        <p:nvSpPr>
          <p:cNvPr id="10" name="Text 8"/>
          <p:cNvSpPr/>
          <p:nvPr/>
        </p:nvSpPr>
        <p:spPr>
          <a:xfrm>
            <a:off x="3246120" y="1005840"/>
            <a:ext cx="2834640" cy="228600"/>
          </a:xfrm>
          <a:prstGeom prst="rect">
            <a:avLst/>
          </a:prstGeom>
          <a:noFill/>
          <a:ln/>
        </p:spPr>
        <p:txBody>
          <a:bodyPr wrap="square" lIns="0" tIns="0" rIns="0" bIns="0" rtlCol="0" anchor="t"/>
          <a:lstStyle/>
          <a:p>
            <a:pPr marL="0" indent="0" algn="ctr">
              <a:buNone/>
            </a:pPr>
            <a:r>
              <a:rPr lang="en-US" sz="900" dirty="0">
                <a:solidFill>
                  <a:srgbClr val="FA8072"/>
                </a:solidFill>
                <a:latin typeface="Poppins" pitchFamily="2" charset="77"/>
                <a:ea typeface="Calibri" pitchFamily="34" charset="-122"/>
                <a:cs typeface="Poppins" pitchFamily="2" charset="77"/>
              </a:rPr>
              <a:t>National Cancer Center Japan</a:t>
            </a:r>
            <a:endParaRPr lang="en-US" sz="900" dirty="0">
              <a:latin typeface="Poppins" pitchFamily="2" charset="77"/>
              <a:cs typeface="Poppins" pitchFamily="2" charset="77"/>
            </a:endParaRPr>
          </a:p>
        </p:txBody>
      </p:sp>
      <p:sp>
        <p:nvSpPr>
          <p:cNvPr id="11" name="Text 9"/>
          <p:cNvSpPr/>
          <p:nvPr/>
        </p:nvSpPr>
        <p:spPr>
          <a:xfrm>
            <a:off x="3246120" y="1298448"/>
            <a:ext cx="2834640" cy="3383280"/>
          </a:xfrm>
          <a:prstGeom prst="rect">
            <a:avLst/>
          </a:prstGeom>
          <a:noFill/>
          <a:ln/>
        </p:spPr>
        <p:txBody>
          <a:bodyPr wrap="square" rtlCol="0" anchor="t"/>
          <a:lstStyle/>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PMDA accelerated approval pathways for ADCs: mentioned 1 time as increasingly open</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Phase 2 ORR data supporting PMDA submission: raised 1 time</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Japanese sites in Phase 3: suggested 1 time</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Korean MFDS following PMDA within 6–12 months: cited 1 time as strategic opportunity</a:t>
            </a:r>
            <a:endParaRPr lang="en-US" sz="1050" dirty="0">
              <a:latin typeface="Poppins" pitchFamily="2" charset="77"/>
              <a:cs typeface="Poppins" pitchFamily="2" charset="77"/>
            </a:endParaRPr>
          </a:p>
        </p:txBody>
      </p:sp>
      <p:sp>
        <p:nvSpPr>
          <p:cNvPr id="12" name="Shape 10"/>
          <p:cNvSpPr/>
          <p:nvPr/>
        </p:nvSpPr>
        <p:spPr>
          <a:xfrm>
            <a:off x="6172200" y="777240"/>
            <a:ext cx="2834640" cy="457200"/>
          </a:xfrm>
          <a:prstGeom prst="rect">
            <a:avLst/>
          </a:prstGeom>
          <a:solidFill>
            <a:srgbClr val="7C0A02"/>
          </a:solidFill>
          <a:ln w="12700">
            <a:solidFill>
              <a:srgbClr val="7C0A02"/>
            </a:solidFill>
            <a:prstDash val="solid"/>
          </a:ln>
        </p:spPr>
        <p:txBody>
          <a:bodyPr/>
          <a:lstStyle/>
          <a:p>
            <a:endParaRPr lang="en-US">
              <a:latin typeface="Poppins" pitchFamily="2" charset="77"/>
              <a:cs typeface="Poppins" pitchFamily="2" charset="77"/>
            </a:endParaRPr>
          </a:p>
        </p:txBody>
      </p:sp>
      <p:sp>
        <p:nvSpPr>
          <p:cNvPr id="13" name="Text 11"/>
          <p:cNvSpPr/>
          <p:nvPr/>
        </p:nvSpPr>
        <p:spPr>
          <a:xfrm>
            <a:off x="6172200" y="777240"/>
            <a:ext cx="2834640" cy="256032"/>
          </a:xfrm>
          <a:prstGeom prst="rect">
            <a:avLst/>
          </a:prstGeom>
          <a:noFill/>
          <a:ln/>
        </p:spPr>
        <p:txBody>
          <a:bodyPr wrap="square" lIns="0" tIns="0" rIns="0" bIns="0" rtlCol="0" anchor="b"/>
          <a:lstStyle/>
          <a:p>
            <a:pPr marL="0" indent="0" algn="ctr">
              <a:buNone/>
            </a:pPr>
            <a:r>
              <a:rPr lang="en-US" sz="1100" b="1" dirty="0">
                <a:solidFill>
                  <a:srgbClr val="FFFFFF"/>
                </a:solidFill>
                <a:latin typeface="Poppins" pitchFamily="2" charset="77"/>
                <a:ea typeface="Calibri" pitchFamily="34" charset="-122"/>
                <a:cs typeface="Poppins" pitchFamily="2" charset="77"/>
              </a:rPr>
              <a:t>Dr. Elena Vasquez</a:t>
            </a:r>
            <a:endParaRPr lang="en-US" sz="1100" dirty="0">
              <a:latin typeface="Poppins" pitchFamily="2" charset="77"/>
              <a:cs typeface="Poppins" pitchFamily="2" charset="77"/>
            </a:endParaRPr>
          </a:p>
        </p:txBody>
      </p:sp>
      <p:sp>
        <p:nvSpPr>
          <p:cNvPr id="14" name="Text 12"/>
          <p:cNvSpPr/>
          <p:nvPr/>
        </p:nvSpPr>
        <p:spPr>
          <a:xfrm>
            <a:off x="6172200" y="1005840"/>
            <a:ext cx="2834640" cy="228600"/>
          </a:xfrm>
          <a:prstGeom prst="rect">
            <a:avLst/>
          </a:prstGeom>
          <a:noFill/>
          <a:ln/>
        </p:spPr>
        <p:txBody>
          <a:bodyPr wrap="square" lIns="0" tIns="0" rIns="0" bIns="0" rtlCol="0" anchor="t"/>
          <a:lstStyle/>
          <a:p>
            <a:pPr marL="0" indent="0" algn="ctr">
              <a:buNone/>
            </a:pPr>
            <a:r>
              <a:rPr lang="en-US" sz="900" dirty="0">
                <a:solidFill>
                  <a:srgbClr val="FA8072"/>
                </a:solidFill>
                <a:latin typeface="Poppins" pitchFamily="2" charset="77"/>
                <a:ea typeface="Calibri" pitchFamily="34" charset="-122"/>
                <a:cs typeface="Poppins" pitchFamily="2" charset="77"/>
              </a:rPr>
              <a:t>Hospital Clinic Barcelona</a:t>
            </a:r>
            <a:endParaRPr lang="en-US" sz="900" dirty="0">
              <a:latin typeface="Poppins" pitchFamily="2" charset="77"/>
              <a:cs typeface="Poppins" pitchFamily="2" charset="77"/>
            </a:endParaRPr>
          </a:p>
        </p:txBody>
      </p:sp>
      <p:sp>
        <p:nvSpPr>
          <p:cNvPr id="15" name="Text 13"/>
          <p:cNvSpPr/>
          <p:nvPr/>
        </p:nvSpPr>
        <p:spPr>
          <a:xfrm>
            <a:off x="6172200" y="1298448"/>
            <a:ext cx="2834640" cy="3383280"/>
          </a:xfrm>
          <a:prstGeom prst="rect">
            <a:avLst/>
          </a:prstGeom>
          <a:noFill/>
          <a:ln/>
        </p:spPr>
        <p:txBody>
          <a:bodyPr wrap="square" rtlCol="0" anchor="t"/>
          <a:lstStyle/>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OS data: requested 1 time as prerequisite for enthusiasm</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PFS vs. OS debate: "PFS is nice but my patients want to know if they'll live longer" — 1 direct quote</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Safety profile: described as encouraging 1 time</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EMA requiring more mature data than FDA: noted 1 time</a:t>
            </a:r>
            <a:endParaRPr lang="en-US" sz="1050" dirty="0">
              <a:latin typeface="Poppins" pitchFamily="2" charset="77"/>
              <a:cs typeface="Poppins" pitchFamily="2" charset="77"/>
            </a:endParaRPr>
          </a:p>
          <a:p>
            <a:pPr marL="342900" indent="-342900">
              <a:spcAft>
                <a:spcPts val="400"/>
              </a:spcAft>
              <a:buSzPct val="100000"/>
              <a:buChar char="•"/>
            </a:pPr>
            <a:r>
              <a:rPr lang="en-US" sz="1050" dirty="0">
                <a:solidFill>
                  <a:srgbClr val="1A1A1A"/>
                </a:solidFill>
                <a:latin typeface="Poppins" pitchFamily="2" charset="77"/>
                <a:ea typeface="Calibri" pitchFamily="34" charset="-122"/>
                <a:cs typeface="Poppins" pitchFamily="2" charset="77"/>
              </a:rPr>
              <a:t>Spain site enrollment: expressed conditional willingness 1 time</a:t>
            </a:r>
            <a:endParaRPr lang="en-US" sz="1050" dirty="0">
              <a:latin typeface="Poppins" pitchFamily="2" charset="77"/>
              <a:cs typeface="Poppins" pitchFamily="2" charset="77"/>
            </a:endParaRPr>
          </a:p>
        </p:txBody>
      </p:sp>
      <p:sp>
        <p:nvSpPr>
          <p:cNvPr id="16" name="Shape 14"/>
          <p:cNvSpPr/>
          <p:nvPr/>
        </p:nvSpPr>
        <p:spPr>
          <a:xfrm>
            <a:off x="0" y="4873752"/>
            <a:ext cx="9144000" cy="269748"/>
          </a:xfrm>
          <a:prstGeom prst="rect">
            <a:avLst/>
          </a:prstGeom>
          <a:solidFill>
            <a:srgbClr val="F5F5F5"/>
          </a:solidFill>
          <a:ln w="12700">
            <a:solidFill>
              <a:srgbClr val="F5F5F5"/>
            </a:solidFill>
            <a:prstDash val="solid"/>
          </a:ln>
        </p:spPr>
        <p:txBody>
          <a:bodyPr/>
          <a:lstStyle/>
          <a:p>
            <a:endParaRPr lang="en-US">
              <a:latin typeface="Poppins" pitchFamily="2" charset="77"/>
              <a:cs typeface="Poppins" pitchFamily="2" charset="77"/>
            </a:endParaRPr>
          </a:p>
        </p:txBody>
      </p:sp>
      <p:sp>
        <p:nvSpPr>
          <p:cNvPr id="17" name="Text 15"/>
          <p:cNvSpPr/>
          <p:nvPr/>
        </p:nvSpPr>
        <p:spPr>
          <a:xfrm>
            <a:off x="365760" y="4873752"/>
            <a:ext cx="8412480" cy="269748"/>
          </a:xfrm>
          <a:prstGeom prst="rect">
            <a:avLst/>
          </a:prstGeom>
          <a:noFill/>
          <a:ln/>
        </p:spPr>
        <p:txBody>
          <a:bodyPr wrap="square" rtlCol="0" anchor="ctr"/>
          <a:lstStyle/>
          <a:p>
            <a:pPr marL="0" indent="0">
              <a:buNone/>
            </a:pPr>
            <a:r>
              <a:rPr lang="en-US" sz="900" dirty="0">
                <a:solidFill>
                  <a:srgbClr val="666666"/>
                </a:solidFill>
                <a:latin typeface="Poppins" pitchFamily="2" charset="77"/>
                <a:ea typeface="Calibri" pitchFamily="34" charset="-122"/>
                <a:cs typeface="Poppins" pitchFamily="2" charset="77"/>
              </a:rPr>
              <a:t>CONFIDENTIAL – INTERNAL USE ONLY  |  ASCO 2025 Field Intelligence</a:t>
            </a:r>
            <a:endParaRPr lang="en-US" sz="900" dirty="0">
              <a:latin typeface="Poppins" pitchFamily="2" charset="77"/>
              <a:cs typeface="Poppins" pitchFamily="2" charset="77"/>
            </a:endParaRPr>
          </a:p>
        </p:txBody>
      </p:sp>
      <p:pic>
        <p:nvPicPr>
          <p:cNvPr id="18" name="Picture 17" descr="A logo with text and a red and black background&#10;&#10;AI-generated content may be incorrect.">
            <a:extLst>
              <a:ext uri="{FF2B5EF4-FFF2-40B4-BE49-F238E27FC236}">
                <a16:creationId xmlns:a16="http://schemas.microsoft.com/office/drawing/2014/main" id="{9CBB142A-5DEF-3957-4921-D93342C8B2AA}"/>
              </a:ext>
            </a:extLst>
          </p:cNvPr>
          <p:cNvPicPr>
            <a:picLocks noChangeAspect="1"/>
          </p:cNvPicPr>
          <p:nvPr/>
        </p:nvPicPr>
        <p:blipFill>
          <a:blip r:embed="rId3"/>
          <a:stretch>
            <a:fillRect/>
          </a:stretch>
        </p:blipFill>
        <p:spPr>
          <a:xfrm>
            <a:off x="0" y="4104350"/>
            <a:ext cx="1737360" cy="7694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D30000"/>
          </a:solidFill>
          <a:ln w="12700">
            <a:solidFill>
              <a:srgbClr val="D30000"/>
            </a:solidFill>
            <a:prstDash val="solid"/>
          </a:ln>
        </p:spPr>
        <p:txBody>
          <a:bodyPr/>
          <a:lstStyle/>
          <a:p>
            <a:endParaRPr lang="en-US">
              <a:latin typeface="Poppins" pitchFamily="2" charset="77"/>
              <a:cs typeface="Poppins" pitchFamily="2" charset="77"/>
            </a:endParaRPr>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000" b="1" dirty="0">
                <a:solidFill>
                  <a:srgbClr val="FFFFFF"/>
                </a:solidFill>
                <a:latin typeface="Poppins" pitchFamily="2" charset="77"/>
                <a:ea typeface="Calibri" pitchFamily="34" charset="-122"/>
                <a:cs typeface="Poppins" pitchFamily="2" charset="77"/>
              </a:rPr>
              <a:t>Competitive Intelligence &amp; Field Observations</a:t>
            </a:r>
            <a:endParaRPr lang="en-US" sz="2000" dirty="0">
              <a:latin typeface="Poppins" pitchFamily="2" charset="77"/>
              <a:cs typeface="Poppins" pitchFamily="2" charset="77"/>
            </a:endParaRPr>
          </a:p>
        </p:txBody>
      </p:sp>
      <p:sp>
        <p:nvSpPr>
          <p:cNvPr id="4" name="Shape 2"/>
          <p:cNvSpPr/>
          <p:nvPr/>
        </p:nvSpPr>
        <p:spPr>
          <a:xfrm>
            <a:off x="365760" y="777240"/>
            <a:ext cx="4023360" cy="347472"/>
          </a:xfrm>
          <a:prstGeom prst="rect">
            <a:avLst/>
          </a:prstGeom>
          <a:solidFill>
            <a:srgbClr val="FF2400"/>
          </a:solidFill>
          <a:ln w="12700">
            <a:solidFill>
              <a:srgbClr val="FF2400"/>
            </a:solidFill>
            <a:prstDash val="solid"/>
          </a:ln>
        </p:spPr>
        <p:txBody>
          <a:bodyPr/>
          <a:lstStyle/>
          <a:p>
            <a:endParaRPr lang="en-US">
              <a:latin typeface="Poppins" pitchFamily="2" charset="77"/>
              <a:cs typeface="Poppins" pitchFamily="2" charset="77"/>
            </a:endParaRPr>
          </a:p>
        </p:txBody>
      </p:sp>
      <p:sp>
        <p:nvSpPr>
          <p:cNvPr id="5" name="Text 3"/>
          <p:cNvSpPr/>
          <p:nvPr/>
        </p:nvSpPr>
        <p:spPr>
          <a:xfrm>
            <a:off x="365760" y="777240"/>
            <a:ext cx="4023360" cy="347472"/>
          </a:xfrm>
          <a:prstGeom prst="rect">
            <a:avLst/>
          </a:prstGeom>
          <a:noFill/>
          <a:ln/>
        </p:spPr>
        <p:txBody>
          <a:bodyPr wrap="square" rtlCol="0" anchor="ctr"/>
          <a:lstStyle/>
          <a:p>
            <a:pPr marL="0" indent="0" algn="ctr">
              <a:buNone/>
            </a:pPr>
            <a:r>
              <a:rPr lang="en-US" sz="900" b="1" dirty="0">
                <a:solidFill>
                  <a:srgbClr val="FFFFFF"/>
                </a:solidFill>
                <a:latin typeface="Poppins" pitchFamily="2" charset="77"/>
                <a:ea typeface="Calibri" pitchFamily="34" charset="-122"/>
                <a:cs typeface="Poppins" pitchFamily="2" charset="77"/>
              </a:rPr>
              <a:t>LUNEXORIMAB (AXELION) – ABSTRACT #8504</a:t>
            </a:r>
            <a:endParaRPr lang="en-US" sz="900" dirty="0">
              <a:latin typeface="Poppins" pitchFamily="2" charset="77"/>
              <a:cs typeface="Poppins" pitchFamily="2" charset="77"/>
            </a:endParaRPr>
          </a:p>
        </p:txBody>
      </p:sp>
      <p:sp>
        <p:nvSpPr>
          <p:cNvPr id="6" name="Text 4"/>
          <p:cNvSpPr/>
          <p:nvPr/>
        </p:nvSpPr>
        <p:spPr>
          <a:xfrm>
            <a:off x="365760" y="1188720"/>
            <a:ext cx="4023360" cy="3566160"/>
          </a:xfrm>
          <a:prstGeom prst="rect">
            <a:avLst/>
          </a:prstGeom>
          <a:noFill/>
          <a:ln/>
        </p:spPr>
        <p:txBody>
          <a:bodyPr wrap="square" rtlCol="0" anchor="t"/>
          <a:lstStyle/>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ORR 42%: </a:t>
            </a:r>
            <a:r>
              <a:rPr lang="en-US" sz="1100" dirty="0">
                <a:solidFill>
                  <a:srgbClr val="1A1A1A"/>
                </a:solidFill>
                <a:latin typeface="Poppins" pitchFamily="2" charset="77"/>
                <a:ea typeface="Calibri" pitchFamily="34" charset="-122"/>
                <a:cs typeface="Poppins" pitchFamily="2" charset="77"/>
              </a:rPr>
              <a:t>Presented 1 time; numerically below OVT-209 47% with overlapping CIs</a:t>
            </a:r>
            <a:endParaRPr lang="en-US" sz="1100" dirty="0">
              <a:latin typeface="Poppins" pitchFamily="2" charset="77"/>
              <a:cs typeface="Poppins" pitchFamily="2" charset="77"/>
            </a:endParaRPr>
          </a:p>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PFS 6.8 months: </a:t>
            </a:r>
            <a:r>
              <a:rPr lang="en-US" sz="1100" dirty="0">
                <a:solidFill>
                  <a:srgbClr val="1A1A1A"/>
                </a:solidFill>
                <a:latin typeface="Poppins" pitchFamily="2" charset="77"/>
                <a:ea typeface="Calibri" pitchFamily="34" charset="-122"/>
                <a:cs typeface="Poppins" pitchFamily="2" charset="77"/>
              </a:rPr>
              <a:t>Cited 1 time; slightly below OVT-209 7.2 months</a:t>
            </a:r>
            <a:endParaRPr lang="en-US" sz="1100" dirty="0">
              <a:latin typeface="Poppins" pitchFamily="2" charset="77"/>
              <a:cs typeface="Poppins" pitchFamily="2" charset="77"/>
            </a:endParaRPr>
          </a:p>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ILD ~5% Grade 2+: </a:t>
            </a:r>
            <a:r>
              <a:rPr lang="en-US" sz="1100" dirty="0">
                <a:solidFill>
                  <a:srgbClr val="1A1A1A"/>
                </a:solidFill>
                <a:latin typeface="Poppins" pitchFamily="2" charset="77"/>
                <a:ea typeface="Calibri" pitchFamily="34" charset="-122"/>
                <a:cs typeface="Poppins" pitchFamily="2" charset="77"/>
              </a:rPr>
              <a:t>Noted 1 time; slightly higher than OVT-209; "several KOLs noted" this difference</a:t>
            </a:r>
            <a:endParaRPr lang="en-US" sz="1100" dirty="0">
              <a:latin typeface="Poppins" pitchFamily="2" charset="77"/>
              <a:cs typeface="Poppins" pitchFamily="2" charset="77"/>
            </a:endParaRPr>
          </a:p>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"Basically equivalent options" framing: </a:t>
            </a:r>
            <a:r>
              <a:rPr lang="en-US" sz="1100" dirty="0">
                <a:solidFill>
                  <a:srgbClr val="1A1A1A"/>
                </a:solidFill>
                <a:latin typeface="Poppins" pitchFamily="2" charset="77"/>
                <a:ea typeface="Calibri" pitchFamily="34" charset="-122"/>
                <a:cs typeface="Poppins" pitchFamily="2" charset="77"/>
              </a:rPr>
              <a:t>Overheard 1 time between 2 thoracic oncologists at poster session</a:t>
            </a:r>
            <a:endParaRPr lang="en-US" sz="1100" dirty="0">
              <a:latin typeface="Poppins" pitchFamily="2" charset="77"/>
              <a:cs typeface="Poppins" pitchFamily="2" charset="77"/>
            </a:endParaRPr>
          </a:p>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"Cleaner safety signal" for OVT-209: </a:t>
            </a:r>
            <a:r>
              <a:rPr lang="en-US" sz="1100" dirty="0">
                <a:solidFill>
                  <a:srgbClr val="1A1A1A"/>
                </a:solidFill>
                <a:latin typeface="Poppins" pitchFamily="2" charset="77"/>
                <a:ea typeface="Calibri" pitchFamily="34" charset="-122"/>
                <a:cs typeface="Poppins" pitchFamily="2" charset="77"/>
              </a:rPr>
              <a:t>Mentioned by 1 HCP with caveat of wanting more ILD follow-up</a:t>
            </a:r>
            <a:endParaRPr lang="en-US" sz="1100" dirty="0">
              <a:latin typeface="Poppins" pitchFamily="2" charset="77"/>
              <a:cs typeface="Poppins" pitchFamily="2" charset="77"/>
            </a:endParaRPr>
          </a:p>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Axelion Phase 3 initiation rumor: </a:t>
            </a:r>
            <a:r>
              <a:rPr lang="en-US" sz="1100" dirty="0">
                <a:solidFill>
                  <a:srgbClr val="1A1A1A"/>
                </a:solidFill>
                <a:latin typeface="Poppins" pitchFamily="2" charset="77"/>
                <a:ea typeface="Calibri" pitchFamily="34" charset="-122"/>
                <a:cs typeface="Poppins" pitchFamily="2" charset="77"/>
              </a:rPr>
              <a:t>Heard 1 time at BIO reception; unverified; possible Q3 investor day announcement</a:t>
            </a:r>
            <a:endParaRPr lang="en-US" sz="1100" dirty="0">
              <a:latin typeface="Poppins" pitchFamily="2" charset="77"/>
              <a:cs typeface="Poppins" pitchFamily="2" charset="77"/>
            </a:endParaRPr>
          </a:p>
        </p:txBody>
      </p:sp>
      <p:sp>
        <p:nvSpPr>
          <p:cNvPr id="7" name="Shape 5"/>
          <p:cNvSpPr/>
          <p:nvPr/>
        </p:nvSpPr>
        <p:spPr>
          <a:xfrm>
            <a:off x="4754880" y="777240"/>
            <a:ext cx="4023360" cy="347472"/>
          </a:xfrm>
          <a:prstGeom prst="rect">
            <a:avLst/>
          </a:prstGeom>
          <a:solidFill>
            <a:srgbClr val="7C0A02"/>
          </a:solidFill>
          <a:ln w="12700">
            <a:solidFill>
              <a:srgbClr val="7C0A02"/>
            </a:solidFill>
            <a:prstDash val="solid"/>
          </a:ln>
        </p:spPr>
        <p:txBody>
          <a:bodyPr/>
          <a:lstStyle/>
          <a:p>
            <a:endParaRPr lang="en-US">
              <a:latin typeface="Poppins" pitchFamily="2" charset="77"/>
              <a:cs typeface="Poppins" pitchFamily="2" charset="77"/>
            </a:endParaRPr>
          </a:p>
        </p:txBody>
      </p:sp>
      <p:sp>
        <p:nvSpPr>
          <p:cNvPr id="8" name="Text 6"/>
          <p:cNvSpPr/>
          <p:nvPr/>
        </p:nvSpPr>
        <p:spPr>
          <a:xfrm>
            <a:off x="4754880" y="777240"/>
            <a:ext cx="4023360" cy="347472"/>
          </a:xfrm>
          <a:prstGeom prst="rect">
            <a:avLst/>
          </a:prstGeom>
          <a:noFill/>
          <a:ln/>
        </p:spPr>
        <p:txBody>
          <a:bodyPr wrap="square" rtlCol="0" anchor="ctr"/>
          <a:lstStyle/>
          <a:p>
            <a:pPr marL="0" indent="0" algn="ctr">
              <a:buNone/>
            </a:pPr>
            <a:r>
              <a:rPr lang="en-US" sz="900" b="1" dirty="0">
                <a:solidFill>
                  <a:srgbClr val="FFFFFF"/>
                </a:solidFill>
                <a:latin typeface="Poppins" pitchFamily="2" charset="77"/>
                <a:ea typeface="Calibri" pitchFamily="34" charset="-122"/>
                <a:cs typeface="Poppins" pitchFamily="2" charset="77"/>
              </a:rPr>
              <a:t>OTHER FIELD OBSERVATIONS</a:t>
            </a:r>
            <a:endParaRPr lang="en-US" sz="900" dirty="0">
              <a:latin typeface="Poppins" pitchFamily="2" charset="77"/>
              <a:cs typeface="Poppins" pitchFamily="2" charset="77"/>
            </a:endParaRPr>
          </a:p>
        </p:txBody>
      </p:sp>
      <p:sp>
        <p:nvSpPr>
          <p:cNvPr id="9" name="Text 7"/>
          <p:cNvSpPr/>
          <p:nvPr/>
        </p:nvSpPr>
        <p:spPr>
          <a:xfrm>
            <a:off x="4754880" y="1188720"/>
            <a:ext cx="4023360" cy="3566160"/>
          </a:xfrm>
          <a:prstGeom prst="rect">
            <a:avLst/>
          </a:prstGeom>
          <a:noFill/>
          <a:ln/>
        </p:spPr>
        <p:txBody>
          <a:bodyPr wrap="square" rtlCol="0" anchor="t"/>
          <a:lstStyle/>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Dato-DXd (TROPION-Lung01) 2L+ NSCLC positioning: </a:t>
            </a:r>
            <a:r>
              <a:rPr lang="en-US" sz="1100" dirty="0">
                <a:solidFill>
                  <a:srgbClr val="1A1A1A"/>
                </a:solidFill>
                <a:latin typeface="Poppins" pitchFamily="2" charset="77"/>
                <a:ea typeface="Calibri" pitchFamily="34" charset="-122"/>
                <a:cs typeface="Poppins" pitchFamily="2" charset="77"/>
              </a:rPr>
              <a:t>Noted 1 time; TROP2 target vs. OVT-209's novel conjugate; will compete for same patient pool</a:t>
            </a:r>
            <a:endParaRPr lang="en-US" sz="1100" dirty="0">
              <a:latin typeface="Poppins" pitchFamily="2" charset="77"/>
              <a:cs typeface="Poppins" pitchFamily="2" charset="77"/>
            </a:endParaRPr>
          </a:p>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Tagrisso resistance creating 2L+ demand: </a:t>
            </a:r>
            <a:r>
              <a:rPr lang="en-US" sz="1100" dirty="0">
                <a:solidFill>
                  <a:srgbClr val="1A1A1A"/>
                </a:solidFill>
                <a:latin typeface="Poppins" pitchFamily="2" charset="77"/>
                <a:ea typeface="Calibri" pitchFamily="34" charset="-122"/>
                <a:cs typeface="Poppins" pitchFamily="2" charset="77"/>
              </a:rPr>
              <a:t>Mentioned 1 time; unverified; flagged as potential tailwind</a:t>
            </a:r>
            <a:endParaRPr lang="en-US" sz="1100" dirty="0">
              <a:latin typeface="Poppins" pitchFamily="2" charset="77"/>
              <a:cs typeface="Poppins" pitchFamily="2" charset="77"/>
            </a:endParaRPr>
          </a:p>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Large pharma BD interest in ADC players: </a:t>
            </a:r>
            <a:r>
              <a:rPr lang="en-US" sz="1100" dirty="0">
                <a:solidFill>
                  <a:srgbClr val="1A1A1A"/>
                </a:solidFill>
                <a:latin typeface="Poppins" pitchFamily="2" charset="77"/>
                <a:ea typeface="Calibri" pitchFamily="34" charset="-122"/>
                <a:cs typeface="Poppins" pitchFamily="2" charset="77"/>
              </a:rPr>
              <a:t>Heard 1 time at BIO reception; attributed to "conference chatter"</a:t>
            </a:r>
            <a:endParaRPr lang="en-US" sz="1100" dirty="0">
              <a:latin typeface="Poppins" pitchFamily="2" charset="77"/>
              <a:cs typeface="Poppins" pitchFamily="2" charset="77"/>
            </a:endParaRPr>
          </a:p>
          <a:p>
            <a:pPr marL="0" indent="0">
              <a:spcAft>
                <a:spcPts val="500"/>
              </a:spcAft>
              <a:buNone/>
            </a:pPr>
            <a:r>
              <a:rPr lang="en-US" sz="1100" b="1" dirty="0">
                <a:solidFill>
                  <a:srgbClr val="1A1A1A"/>
                </a:solidFill>
                <a:latin typeface="Poppins" pitchFamily="2" charset="77"/>
                <a:ea typeface="Calibri" pitchFamily="34" charset="-122"/>
                <a:cs typeface="Poppins" pitchFamily="2" charset="77"/>
              </a:rPr>
              <a:t>HER2-low breast cancer poster (OVT-209): </a:t>
            </a:r>
            <a:r>
              <a:rPr lang="en-US" sz="1100" dirty="0">
                <a:solidFill>
                  <a:srgbClr val="1A1A1A"/>
                </a:solidFill>
                <a:latin typeface="Poppins" pitchFamily="2" charset="77"/>
                <a:ea typeface="Calibri" pitchFamily="34" charset="-122"/>
                <a:cs typeface="Poppins" pitchFamily="2" charset="77"/>
              </a:rPr>
              <a:t>Noted 1 time; described as strong data; deferred to separate team for debrief</a:t>
            </a:r>
            <a:endParaRPr lang="en-US" sz="1100" dirty="0">
              <a:latin typeface="Poppins" pitchFamily="2" charset="77"/>
              <a:cs typeface="Poppins" pitchFamily="2" charset="77"/>
            </a:endParaRPr>
          </a:p>
        </p:txBody>
      </p:sp>
      <p:sp>
        <p:nvSpPr>
          <p:cNvPr id="10" name="Shape 8"/>
          <p:cNvSpPr/>
          <p:nvPr/>
        </p:nvSpPr>
        <p:spPr>
          <a:xfrm>
            <a:off x="0" y="4873752"/>
            <a:ext cx="9144000" cy="269748"/>
          </a:xfrm>
          <a:prstGeom prst="rect">
            <a:avLst/>
          </a:prstGeom>
          <a:solidFill>
            <a:srgbClr val="F5F5F5"/>
          </a:solidFill>
          <a:ln w="12700">
            <a:solidFill>
              <a:srgbClr val="F5F5F5"/>
            </a:solidFill>
            <a:prstDash val="solid"/>
          </a:ln>
        </p:spPr>
        <p:txBody>
          <a:bodyPr/>
          <a:lstStyle/>
          <a:p>
            <a:endParaRPr lang="en-US">
              <a:latin typeface="Poppins" pitchFamily="2" charset="77"/>
              <a:cs typeface="Poppins" pitchFamily="2" charset="77"/>
            </a:endParaRPr>
          </a:p>
        </p:txBody>
      </p:sp>
      <p:sp>
        <p:nvSpPr>
          <p:cNvPr id="11" name="Text 9"/>
          <p:cNvSpPr/>
          <p:nvPr/>
        </p:nvSpPr>
        <p:spPr>
          <a:xfrm>
            <a:off x="365760" y="4873752"/>
            <a:ext cx="8412480" cy="269748"/>
          </a:xfrm>
          <a:prstGeom prst="rect">
            <a:avLst/>
          </a:prstGeom>
          <a:noFill/>
          <a:ln/>
        </p:spPr>
        <p:txBody>
          <a:bodyPr wrap="square" rtlCol="0" anchor="ctr"/>
          <a:lstStyle/>
          <a:p>
            <a:pPr marL="0" indent="0">
              <a:buNone/>
            </a:pPr>
            <a:r>
              <a:rPr lang="en-US" sz="900" dirty="0">
                <a:solidFill>
                  <a:srgbClr val="666666"/>
                </a:solidFill>
                <a:latin typeface="Poppins" pitchFamily="2" charset="77"/>
                <a:ea typeface="Calibri" pitchFamily="34" charset="-122"/>
                <a:cs typeface="Poppins" pitchFamily="2" charset="77"/>
              </a:rPr>
              <a:t>CONFIDENTIAL – INTERNAL USE ONLY  |  ASCO 2025 Field Intelligence</a:t>
            </a:r>
            <a:endParaRPr lang="en-US" sz="900" dirty="0">
              <a:latin typeface="Poppins" pitchFamily="2" charset="77"/>
              <a:cs typeface="Poppins" pitchFamily="2" charset="77"/>
            </a:endParaRPr>
          </a:p>
        </p:txBody>
      </p:sp>
      <p:pic>
        <p:nvPicPr>
          <p:cNvPr id="12" name="Picture 11" descr="A logo with text and a red and black background&#10;&#10;AI-generated content may be incorrect.">
            <a:extLst>
              <a:ext uri="{FF2B5EF4-FFF2-40B4-BE49-F238E27FC236}">
                <a16:creationId xmlns:a16="http://schemas.microsoft.com/office/drawing/2014/main" id="{B20A040A-CA55-F5F8-BB13-D5C14525F87C}"/>
              </a:ext>
            </a:extLst>
          </p:cNvPr>
          <p:cNvPicPr>
            <a:picLocks noChangeAspect="1"/>
          </p:cNvPicPr>
          <p:nvPr/>
        </p:nvPicPr>
        <p:blipFill>
          <a:blip r:embed="rId3"/>
          <a:stretch>
            <a:fillRect/>
          </a:stretch>
        </p:blipFill>
        <p:spPr>
          <a:xfrm>
            <a:off x="0" y="4104350"/>
            <a:ext cx="1737360" cy="7694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D30000"/>
          </a:solidFill>
          <a:ln w="12700">
            <a:solidFill>
              <a:srgbClr val="D30000"/>
            </a:solidFill>
            <a:prstDash val="solid"/>
          </a:ln>
        </p:spPr>
        <p:txBody>
          <a:bodyPr/>
          <a:lstStyle/>
          <a:p>
            <a:endParaRPr lang="en-US">
              <a:latin typeface="Poppins" pitchFamily="2" charset="77"/>
              <a:cs typeface="Poppins" pitchFamily="2" charset="77"/>
            </a:endParaRPr>
          </a:p>
        </p:txBody>
      </p:sp>
      <p:sp>
        <p:nvSpPr>
          <p:cNvPr id="3" name="Text 1"/>
          <p:cNvSpPr/>
          <p:nvPr/>
        </p:nvSpPr>
        <p:spPr>
          <a:xfrm>
            <a:off x="365760" y="0"/>
            <a:ext cx="7772400" cy="685800"/>
          </a:xfrm>
          <a:prstGeom prst="rect">
            <a:avLst/>
          </a:prstGeom>
          <a:noFill/>
          <a:ln/>
        </p:spPr>
        <p:txBody>
          <a:bodyPr wrap="square" rtlCol="0" anchor="ctr"/>
          <a:lstStyle/>
          <a:p>
            <a:pPr marL="0" indent="0">
              <a:buNone/>
            </a:pPr>
            <a:r>
              <a:rPr lang="en-US" sz="2000" b="1" dirty="0">
                <a:solidFill>
                  <a:srgbClr val="FFFFFF"/>
                </a:solidFill>
                <a:latin typeface="Poppins" pitchFamily="2" charset="77"/>
                <a:ea typeface="Calibri" pitchFamily="34" charset="-122"/>
                <a:cs typeface="Poppins" pitchFamily="2" charset="77"/>
              </a:rPr>
              <a:t>Synthesized Field Themes &amp; MSL Intelligence</a:t>
            </a:r>
            <a:endParaRPr lang="en-US" sz="2000" dirty="0">
              <a:latin typeface="Poppins" pitchFamily="2" charset="77"/>
              <a:cs typeface="Poppins" pitchFamily="2" charset="77"/>
            </a:endParaRPr>
          </a:p>
        </p:txBody>
      </p:sp>
      <p:sp>
        <p:nvSpPr>
          <p:cNvPr id="4" name="Shape 2"/>
          <p:cNvSpPr/>
          <p:nvPr/>
        </p:nvSpPr>
        <p:spPr>
          <a:xfrm>
            <a:off x="7315200" y="91440"/>
            <a:ext cx="1645920" cy="502920"/>
          </a:xfrm>
          <a:prstGeom prst="roundRect">
            <a:avLst>
              <a:gd name="adj" fmla="val 18182"/>
            </a:avLst>
          </a:prstGeom>
          <a:solidFill>
            <a:srgbClr val="FA8072">
              <a:alpha val="80000"/>
            </a:srgbClr>
          </a:solidFill>
          <a:ln w="12700">
            <a:solidFill>
              <a:srgbClr val="FA8072"/>
            </a:solidFill>
            <a:prstDash val="solid"/>
          </a:ln>
        </p:spPr>
        <p:txBody>
          <a:bodyPr/>
          <a:lstStyle/>
          <a:p>
            <a:endParaRPr lang="en-US">
              <a:latin typeface="Poppins" pitchFamily="2" charset="77"/>
              <a:cs typeface="Poppins" pitchFamily="2" charset="77"/>
            </a:endParaRPr>
          </a:p>
        </p:txBody>
      </p:sp>
      <p:sp>
        <p:nvSpPr>
          <p:cNvPr id="5" name="Text 3"/>
          <p:cNvSpPr/>
          <p:nvPr/>
        </p:nvSpPr>
        <p:spPr>
          <a:xfrm>
            <a:off x="7315200" y="91440"/>
            <a:ext cx="1645920" cy="502920"/>
          </a:xfrm>
          <a:prstGeom prst="rect">
            <a:avLst/>
          </a:prstGeom>
          <a:noFill/>
          <a:ln/>
        </p:spPr>
        <p:txBody>
          <a:bodyPr wrap="square" rtlCol="0" anchor="ctr"/>
          <a:lstStyle/>
          <a:p>
            <a:pPr marL="0" indent="0" algn="ctr">
              <a:buNone/>
            </a:pPr>
            <a:r>
              <a:rPr lang="en-US" sz="900" b="1" dirty="0">
                <a:solidFill>
                  <a:srgbClr val="FFFFFF"/>
                </a:solidFill>
                <a:latin typeface="Poppins" pitchFamily="2" charset="77"/>
                <a:ea typeface="Calibri" pitchFamily="34" charset="-122"/>
                <a:cs typeface="Poppins" pitchFamily="2" charset="77"/>
              </a:rPr>
              <a:t>MSL-DERIVED*</a:t>
            </a:r>
            <a:endParaRPr lang="en-US" sz="900" dirty="0">
              <a:latin typeface="Poppins" pitchFamily="2" charset="77"/>
              <a:cs typeface="Poppins" pitchFamily="2" charset="77"/>
            </a:endParaRPr>
          </a:p>
        </p:txBody>
      </p:sp>
      <p:sp>
        <p:nvSpPr>
          <p:cNvPr id="6" name="Text 4"/>
          <p:cNvSpPr/>
          <p:nvPr/>
        </p:nvSpPr>
        <p:spPr>
          <a:xfrm>
            <a:off x="365760" y="777240"/>
            <a:ext cx="8412480" cy="274320"/>
          </a:xfrm>
          <a:prstGeom prst="rect">
            <a:avLst/>
          </a:prstGeom>
          <a:noFill/>
          <a:ln/>
        </p:spPr>
        <p:txBody>
          <a:bodyPr wrap="square" rtlCol="0" anchor="ctr"/>
          <a:lstStyle/>
          <a:p>
            <a:pPr marL="0" indent="0">
              <a:buNone/>
            </a:pPr>
            <a:r>
              <a:rPr lang="en-US" sz="1200" i="1" dirty="0">
                <a:solidFill>
                  <a:srgbClr val="666666"/>
                </a:solidFill>
                <a:latin typeface="Poppins" pitchFamily="2" charset="77"/>
                <a:ea typeface="Calibri" pitchFamily="34" charset="-122"/>
                <a:cs typeface="Poppins" pitchFamily="2" charset="77"/>
              </a:rPr>
              <a:t>Themes observed across ASCO 2025 and longitudinal MSL engagement</a:t>
            </a:r>
            <a:endParaRPr lang="en-US" sz="1200" dirty="0">
              <a:latin typeface="Poppins" pitchFamily="2" charset="77"/>
              <a:cs typeface="Poppins" pitchFamily="2" charset="77"/>
            </a:endParaRPr>
          </a:p>
        </p:txBody>
      </p:sp>
      <p:sp>
        <p:nvSpPr>
          <p:cNvPr id="7" name="Shape 5"/>
          <p:cNvSpPr/>
          <p:nvPr/>
        </p:nvSpPr>
        <p:spPr>
          <a:xfrm>
            <a:off x="320040" y="1143000"/>
            <a:ext cx="4114800" cy="347472"/>
          </a:xfrm>
          <a:prstGeom prst="rect">
            <a:avLst/>
          </a:prstGeom>
          <a:solidFill>
            <a:srgbClr val="7C0A02"/>
          </a:solidFill>
          <a:ln w="12700">
            <a:solidFill>
              <a:srgbClr val="7C0A02"/>
            </a:solidFill>
            <a:prstDash val="solid"/>
          </a:ln>
        </p:spPr>
        <p:txBody>
          <a:bodyPr/>
          <a:lstStyle/>
          <a:p>
            <a:endParaRPr lang="en-US">
              <a:latin typeface="Poppins" pitchFamily="2" charset="77"/>
              <a:cs typeface="Poppins" pitchFamily="2" charset="77"/>
            </a:endParaRPr>
          </a:p>
        </p:txBody>
      </p:sp>
      <p:sp>
        <p:nvSpPr>
          <p:cNvPr id="8" name="Text 6"/>
          <p:cNvSpPr/>
          <p:nvPr/>
        </p:nvSpPr>
        <p:spPr>
          <a:xfrm>
            <a:off x="320040" y="1143000"/>
            <a:ext cx="4114800" cy="347472"/>
          </a:xfrm>
          <a:prstGeom prst="rect">
            <a:avLst/>
          </a:prstGeom>
          <a:noFill/>
          <a:ln/>
        </p:spPr>
        <p:txBody>
          <a:bodyPr wrap="square" rtlCol="0" anchor="ctr"/>
          <a:lstStyle/>
          <a:p>
            <a:pPr marL="0" indent="0" algn="ctr">
              <a:buNone/>
            </a:pPr>
            <a:r>
              <a:rPr lang="en-US" sz="900" b="1" dirty="0">
                <a:solidFill>
                  <a:srgbClr val="FFFFFF"/>
                </a:solidFill>
                <a:latin typeface="Poppins" pitchFamily="2" charset="77"/>
                <a:ea typeface="Calibri" pitchFamily="34" charset="-122"/>
                <a:cs typeface="Poppins" pitchFamily="2" charset="77"/>
              </a:rPr>
              <a:t>IMMEDIATE FOLLOW-UPS FLAGGED</a:t>
            </a:r>
            <a:endParaRPr lang="en-US" sz="900" dirty="0">
              <a:latin typeface="Poppins" pitchFamily="2" charset="77"/>
              <a:cs typeface="Poppins" pitchFamily="2" charset="77"/>
            </a:endParaRPr>
          </a:p>
        </p:txBody>
      </p:sp>
      <p:sp>
        <p:nvSpPr>
          <p:cNvPr id="9" name="Text 7"/>
          <p:cNvSpPr/>
          <p:nvPr/>
        </p:nvSpPr>
        <p:spPr>
          <a:xfrm>
            <a:off x="320040" y="1527048"/>
            <a:ext cx="4114800" cy="3200400"/>
          </a:xfrm>
          <a:prstGeom prst="rect">
            <a:avLst/>
          </a:prstGeom>
          <a:noFill/>
          <a:ln/>
        </p:spPr>
        <p:txBody>
          <a:bodyPr wrap="square" rtlCol="0" anchor="t"/>
          <a:lstStyle/>
          <a:p>
            <a:pPr marL="342900" indent="-342900">
              <a:spcAft>
                <a:spcPts val="600"/>
              </a:spcAft>
              <a:buSzPct val="100000"/>
              <a:buChar char="•"/>
            </a:pPr>
            <a:r>
              <a:rPr lang="en-US" sz="1100" dirty="0">
                <a:solidFill>
                  <a:srgbClr val="1A1A1A"/>
                </a:solidFill>
                <a:latin typeface="Poppins" pitchFamily="2" charset="77"/>
                <a:ea typeface="Calibri" pitchFamily="34" charset="-122"/>
                <a:cs typeface="Poppins" pitchFamily="2" charset="77"/>
              </a:rPr>
              <a:t>MSL follow-up with Dr. Martinez (MSK) requested: ILD monitoring protocol — 1 direct request logged</a:t>
            </a:r>
            <a:endParaRPr lang="en-US" sz="1100" dirty="0">
              <a:latin typeface="Poppins" pitchFamily="2" charset="77"/>
              <a:cs typeface="Poppins" pitchFamily="2" charset="77"/>
            </a:endParaRPr>
          </a:p>
          <a:p>
            <a:pPr marL="342900" indent="-342900">
              <a:spcAft>
                <a:spcPts val="600"/>
              </a:spcAft>
              <a:buSzPct val="100000"/>
              <a:buChar char="•"/>
            </a:pPr>
            <a:r>
              <a:rPr lang="en-US" sz="1100" dirty="0">
                <a:solidFill>
                  <a:srgbClr val="1A1A1A"/>
                </a:solidFill>
                <a:latin typeface="Poppins" pitchFamily="2" charset="77"/>
                <a:ea typeface="Calibri" pitchFamily="34" charset="-122"/>
                <a:cs typeface="Poppins" pitchFamily="2" charset="77"/>
              </a:rPr>
              <a:t>Dr. Okonkwo (MDA) connection to clinical team for Phase 3 site expansion — 1 engagement</a:t>
            </a:r>
            <a:endParaRPr lang="en-US" sz="1100" dirty="0">
              <a:latin typeface="Poppins" pitchFamily="2" charset="77"/>
              <a:cs typeface="Poppins" pitchFamily="2" charset="77"/>
            </a:endParaRPr>
          </a:p>
          <a:p>
            <a:pPr marL="342900" indent="-342900">
              <a:spcAft>
                <a:spcPts val="600"/>
              </a:spcAft>
              <a:buSzPct val="100000"/>
              <a:buChar char="•"/>
            </a:pPr>
            <a:r>
              <a:rPr lang="en-US" sz="1100" dirty="0">
                <a:solidFill>
                  <a:srgbClr val="1A1A1A"/>
                </a:solidFill>
                <a:latin typeface="Poppins" pitchFamily="2" charset="77"/>
                <a:ea typeface="Calibri" pitchFamily="34" charset="-122"/>
                <a:cs typeface="Poppins" pitchFamily="2" charset="77"/>
              </a:rPr>
              <a:t>Regulatory team briefing on APAC pathway intel from Dr. Tanaka — 1 item flagged</a:t>
            </a:r>
            <a:endParaRPr lang="en-US" sz="1100" dirty="0">
              <a:latin typeface="Poppins" pitchFamily="2" charset="77"/>
              <a:cs typeface="Poppins" pitchFamily="2" charset="77"/>
            </a:endParaRPr>
          </a:p>
          <a:p>
            <a:pPr marL="342900" indent="-342900">
              <a:spcAft>
                <a:spcPts val="600"/>
              </a:spcAft>
              <a:buSzPct val="100000"/>
              <a:buChar char="•"/>
            </a:pPr>
            <a:r>
              <a:rPr lang="en-US" sz="1100" dirty="0">
                <a:solidFill>
                  <a:srgbClr val="1A1A1A"/>
                </a:solidFill>
                <a:latin typeface="Poppins" pitchFamily="2" charset="77"/>
                <a:ea typeface="Calibri" pitchFamily="34" charset="-122"/>
                <a:cs typeface="Poppins" pitchFamily="2" charset="77"/>
              </a:rPr>
              <a:t>Competitive intel team tasked to monitor Axelion investor communications — 1 directive</a:t>
            </a:r>
            <a:endParaRPr lang="en-US" sz="1100" dirty="0">
              <a:latin typeface="Poppins" pitchFamily="2" charset="77"/>
              <a:cs typeface="Poppins" pitchFamily="2" charset="77"/>
            </a:endParaRPr>
          </a:p>
          <a:p>
            <a:pPr marL="342900" indent="-342900">
              <a:spcAft>
                <a:spcPts val="600"/>
              </a:spcAft>
              <a:buSzPct val="100000"/>
              <a:buChar char="•"/>
            </a:pPr>
            <a:r>
              <a:rPr lang="en-US" sz="1100" dirty="0">
                <a:solidFill>
                  <a:srgbClr val="1A1A1A"/>
                </a:solidFill>
                <a:latin typeface="Poppins" pitchFamily="2" charset="77"/>
                <a:ea typeface="Calibri" pitchFamily="34" charset="-122"/>
                <a:cs typeface="Poppins" pitchFamily="2" charset="77"/>
              </a:rPr>
              <a:t>EGFR wild-type subgroup analysis requested from biostatistics — 1 data pull requested</a:t>
            </a:r>
            <a:endParaRPr lang="en-US" sz="1100" dirty="0">
              <a:latin typeface="Poppins" pitchFamily="2" charset="77"/>
              <a:cs typeface="Poppins" pitchFamily="2" charset="77"/>
            </a:endParaRPr>
          </a:p>
        </p:txBody>
      </p:sp>
      <p:sp>
        <p:nvSpPr>
          <p:cNvPr id="10" name="Shape 8"/>
          <p:cNvSpPr/>
          <p:nvPr/>
        </p:nvSpPr>
        <p:spPr>
          <a:xfrm>
            <a:off x="4709160" y="1143000"/>
            <a:ext cx="4114800" cy="347472"/>
          </a:xfrm>
          <a:prstGeom prst="rect">
            <a:avLst/>
          </a:prstGeom>
          <a:solidFill>
            <a:srgbClr val="FF2400"/>
          </a:solidFill>
          <a:ln w="12700">
            <a:solidFill>
              <a:srgbClr val="FF2400"/>
            </a:solidFill>
            <a:prstDash val="solid"/>
          </a:ln>
        </p:spPr>
        <p:txBody>
          <a:bodyPr/>
          <a:lstStyle/>
          <a:p>
            <a:endParaRPr lang="en-US">
              <a:latin typeface="Poppins" pitchFamily="2" charset="77"/>
              <a:cs typeface="Poppins" pitchFamily="2" charset="77"/>
            </a:endParaRPr>
          </a:p>
        </p:txBody>
      </p:sp>
      <p:sp>
        <p:nvSpPr>
          <p:cNvPr id="11" name="Text 9"/>
          <p:cNvSpPr/>
          <p:nvPr/>
        </p:nvSpPr>
        <p:spPr>
          <a:xfrm>
            <a:off x="4709160" y="1143000"/>
            <a:ext cx="4114800" cy="347472"/>
          </a:xfrm>
          <a:prstGeom prst="rect">
            <a:avLst/>
          </a:prstGeom>
          <a:noFill/>
          <a:ln/>
        </p:spPr>
        <p:txBody>
          <a:bodyPr wrap="square" rtlCol="0" anchor="ctr"/>
          <a:lstStyle/>
          <a:p>
            <a:pPr marL="0" indent="0" algn="ctr">
              <a:buNone/>
            </a:pPr>
            <a:r>
              <a:rPr lang="en-US" sz="900" b="1" dirty="0">
                <a:solidFill>
                  <a:srgbClr val="FFFFFF"/>
                </a:solidFill>
                <a:latin typeface="Poppins" pitchFamily="2" charset="77"/>
                <a:ea typeface="Calibri" pitchFamily="34" charset="-122"/>
                <a:cs typeface="Poppins" pitchFamily="2" charset="77"/>
              </a:rPr>
              <a:t>EVOLVING HCP SENTIMENT SINCE ESMO 2024 </a:t>
            </a:r>
            <a:endParaRPr lang="en-US" sz="900" dirty="0">
              <a:latin typeface="Poppins" pitchFamily="2" charset="77"/>
              <a:cs typeface="Poppins" pitchFamily="2" charset="77"/>
            </a:endParaRPr>
          </a:p>
        </p:txBody>
      </p:sp>
      <p:sp>
        <p:nvSpPr>
          <p:cNvPr id="12" name="Text 10"/>
          <p:cNvSpPr/>
          <p:nvPr/>
        </p:nvSpPr>
        <p:spPr>
          <a:xfrm>
            <a:off x="4709160" y="1527048"/>
            <a:ext cx="4114800" cy="3200400"/>
          </a:xfrm>
          <a:prstGeom prst="rect">
            <a:avLst/>
          </a:prstGeom>
          <a:noFill/>
          <a:ln/>
        </p:spPr>
        <p:txBody>
          <a:bodyPr wrap="square" rtlCol="0" anchor="t"/>
          <a:lstStyle/>
          <a:p>
            <a:pPr marL="342900" indent="-342900">
              <a:spcAft>
                <a:spcPts val="600"/>
              </a:spcAft>
              <a:buSzPct val="100000"/>
              <a:buChar char="•"/>
            </a:pPr>
            <a:r>
              <a:rPr lang="en-US" sz="1100" dirty="0">
                <a:solidFill>
                  <a:srgbClr val="1A1A1A"/>
                </a:solidFill>
                <a:latin typeface="Poppins" pitchFamily="2" charset="77"/>
                <a:ea typeface="Calibri" pitchFamily="34" charset="-122"/>
                <a:cs typeface="Poppins" pitchFamily="2" charset="77"/>
              </a:rPr>
              <a:t>MSL survey responses and internal meetings indicated interactions since ESMO 2024, MSLs have noted a measurable shift in KOL framing — HCPs who previously asked "does it work?" are now asking "where exactly does it fit?" This signals movement from skepticism to practical adoption planning, and is the most consistent theme MSLs are hearing heading into Phase 3 site selection discussions.</a:t>
            </a:r>
          </a:p>
          <a:p>
            <a:pPr marL="342900" indent="-342900">
              <a:spcAft>
                <a:spcPts val="600"/>
              </a:spcAft>
              <a:buSzPct val="100000"/>
              <a:buChar char="•"/>
            </a:pPr>
            <a:r>
              <a:rPr lang="en-US" sz="1100" dirty="0">
                <a:solidFill>
                  <a:srgbClr val="1A1A1A"/>
                </a:solidFill>
                <a:latin typeface="Poppins" pitchFamily="2" charset="77"/>
                <a:cs typeface="Poppins" pitchFamily="2" charset="77"/>
              </a:rPr>
              <a:t>In 2025, ILD rates decreased from 5.3% in 2024, increasing sentiment overall.</a:t>
            </a:r>
          </a:p>
          <a:p>
            <a:pPr marL="342900" indent="-342900">
              <a:spcAft>
                <a:spcPts val="600"/>
              </a:spcAft>
              <a:buSzPct val="100000"/>
              <a:buChar char="•"/>
            </a:pPr>
            <a:r>
              <a:rPr lang="en-US" sz="1100" dirty="0">
                <a:solidFill>
                  <a:srgbClr val="1A1A1A"/>
                </a:solidFill>
                <a:latin typeface="Poppins" pitchFamily="2" charset="77"/>
                <a:cs typeface="Poppins" pitchFamily="2" charset="77"/>
              </a:rPr>
              <a:t>2024 and 2025 MSL survey scores indicated that HCPs want visually engaging PDFs detailing monitoring protocols, indicating the need for more engaging content to keep up with competitor education initiatives. </a:t>
            </a:r>
            <a:endParaRPr lang="en-US" sz="1100" dirty="0">
              <a:latin typeface="Poppins" pitchFamily="2" charset="77"/>
              <a:cs typeface="Poppins" pitchFamily="2" charset="77"/>
            </a:endParaRPr>
          </a:p>
        </p:txBody>
      </p:sp>
      <p:sp>
        <p:nvSpPr>
          <p:cNvPr id="13" name="Text 11"/>
          <p:cNvSpPr/>
          <p:nvPr/>
        </p:nvSpPr>
        <p:spPr>
          <a:xfrm>
            <a:off x="320040" y="3688298"/>
            <a:ext cx="8412480" cy="228600"/>
          </a:xfrm>
          <a:prstGeom prst="rect">
            <a:avLst/>
          </a:prstGeom>
          <a:noFill/>
          <a:ln/>
        </p:spPr>
        <p:txBody>
          <a:bodyPr wrap="square" rtlCol="0" anchor="ctr"/>
          <a:lstStyle/>
          <a:p>
            <a:pPr marL="0" indent="0">
              <a:buNone/>
            </a:pPr>
            <a:endParaRPr lang="en-US" sz="850" dirty="0">
              <a:latin typeface="Poppins" pitchFamily="2" charset="77"/>
              <a:cs typeface="Poppins" pitchFamily="2" charset="77"/>
            </a:endParaRPr>
          </a:p>
        </p:txBody>
      </p:sp>
      <p:sp>
        <p:nvSpPr>
          <p:cNvPr id="14" name="Shape 12"/>
          <p:cNvSpPr/>
          <p:nvPr/>
        </p:nvSpPr>
        <p:spPr>
          <a:xfrm>
            <a:off x="0" y="4873752"/>
            <a:ext cx="9144000" cy="269748"/>
          </a:xfrm>
          <a:prstGeom prst="rect">
            <a:avLst/>
          </a:prstGeom>
          <a:solidFill>
            <a:srgbClr val="F5F5F5"/>
          </a:solidFill>
          <a:ln w="12700">
            <a:solidFill>
              <a:srgbClr val="F5F5F5"/>
            </a:solidFill>
            <a:prstDash val="solid"/>
          </a:ln>
        </p:spPr>
        <p:txBody>
          <a:bodyPr/>
          <a:lstStyle/>
          <a:p>
            <a:endParaRPr lang="en-US">
              <a:latin typeface="Poppins" pitchFamily="2" charset="77"/>
              <a:cs typeface="Poppins" pitchFamily="2" charset="77"/>
            </a:endParaRPr>
          </a:p>
        </p:txBody>
      </p:sp>
      <p:sp>
        <p:nvSpPr>
          <p:cNvPr id="15" name="Text 13"/>
          <p:cNvSpPr/>
          <p:nvPr/>
        </p:nvSpPr>
        <p:spPr>
          <a:xfrm>
            <a:off x="365760" y="4873752"/>
            <a:ext cx="8412480" cy="269748"/>
          </a:xfrm>
          <a:prstGeom prst="rect">
            <a:avLst/>
          </a:prstGeom>
          <a:noFill/>
          <a:ln/>
        </p:spPr>
        <p:txBody>
          <a:bodyPr wrap="square" rtlCol="0" anchor="ctr"/>
          <a:lstStyle/>
          <a:p>
            <a:pPr marL="0" indent="0">
              <a:buNone/>
            </a:pPr>
            <a:r>
              <a:rPr lang="en-US" sz="900" dirty="0">
                <a:solidFill>
                  <a:srgbClr val="666666"/>
                </a:solidFill>
                <a:latin typeface="Poppins" pitchFamily="2" charset="77"/>
                <a:ea typeface="Calibri" pitchFamily="34" charset="-122"/>
                <a:cs typeface="Poppins" pitchFamily="2" charset="77"/>
              </a:rPr>
              <a:t>CONFIDENTIAL – INTERNAL USE ONLY  |  ASCO 2025 Field Intelligence</a:t>
            </a:r>
            <a:endParaRPr lang="en-US" sz="900" dirty="0">
              <a:latin typeface="Poppins" pitchFamily="2" charset="77"/>
              <a:cs typeface="Poppins" pitchFamily="2" charset="77"/>
            </a:endParaRPr>
          </a:p>
        </p:txBody>
      </p:sp>
      <p:pic>
        <p:nvPicPr>
          <p:cNvPr id="16" name="Picture 15" descr="A logo with text and a red and black background&#10;&#10;AI-generated content may be incorrect.">
            <a:extLst>
              <a:ext uri="{FF2B5EF4-FFF2-40B4-BE49-F238E27FC236}">
                <a16:creationId xmlns:a16="http://schemas.microsoft.com/office/drawing/2014/main" id="{EBDB853C-6A25-B8A0-7A75-ECD8BC9C7609}"/>
              </a:ext>
            </a:extLst>
          </p:cNvPr>
          <p:cNvPicPr>
            <a:picLocks noChangeAspect="1"/>
          </p:cNvPicPr>
          <p:nvPr/>
        </p:nvPicPr>
        <p:blipFill>
          <a:blip r:embed="rId3"/>
          <a:stretch>
            <a:fillRect/>
          </a:stretch>
        </p:blipFill>
        <p:spPr>
          <a:xfrm>
            <a:off x="0" y="4104350"/>
            <a:ext cx="1737360" cy="7694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7C0A02"/>
          </a:solidFill>
          <a:ln w="12700">
            <a:solidFill>
              <a:srgbClr val="7C0A02"/>
            </a:solidFill>
            <a:prstDash val="solid"/>
          </a:ln>
        </p:spPr>
        <p:txBody>
          <a:bodyPr/>
          <a:lstStyle/>
          <a:p>
            <a:endParaRPr lang="en-US" dirty="0">
              <a:latin typeface="Poppins" pitchFamily="2" charset="77"/>
              <a:cs typeface="Poppins" pitchFamily="2" charset="77"/>
            </a:endParaRPr>
          </a:p>
        </p:txBody>
      </p:sp>
      <p:sp>
        <p:nvSpPr>
          <p:cNvPr id="3" name="Text 1"/>
          <p:cNvSpPr/>
          <p:nvPr/>
        </p:nvSpPr>
        <p:spPr>
          <a:xfrm>
            <a:off x="365760" y="0"/>
            <a:ext cx="777240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APPENDIX: KOL Geographic Distribution</a:t>
            </a:r>
            <a:endParaRPr lang="en-US" sz="1800" dirty="0"/>
          </a:p>
        </p:txBody>
      </p:sp>
      <p:sp>
        <p:nvSpPr>
          <p:cNvPr id="4" name="Text 2"/>
          <p:cNvSpPr/>
          <p:nvPr/>
        </p:nvSpPr>
        <p:spPr>
          <a:xfrm>
            <a:off x="6400800" y="0"/>
            <a:ext cx="2560320" cy="640080"/>
          </a:xfrm>
          <a:prstGeom prst="rect">
            <a:avLst/>
          </a:prstGeom>
          <a:noFill/>
          <a:ln/>
        </p:spPr>
        <p:txBody>
          <a:bodyPr wrap="square" rtlCol="0" anchor="ctr"/>
          <a:lstStyle/>
          <a:p>
            <a:pPr marL="0" indent="0" algn="r">
              <a:buNone/>
            </a:pPr>
            <a:r>
              <a:rPr lang="en-US" sz="1100" dirty="0">
                <a:solidFill>
                  <a:srgbClr val="FA8072"/>
                </a:solidFill>
                <a:latin typeface="Calibri" pitchFamily="34" charset="0"/>
                <a:ea typeface="Calibri" pitchFamily="34" charset="-122"/>
                <a:cs typeface="Calibri" pitchFamily="34" charset="-120"/>
              </a:rPr>
              <a:t>ASCO 2025 Engaged HCPs</a:t>
            </a:r>
            <a:endParaRPr lang="en-US" sz="1100" dirty="0"/>
          </a:p>
        </p:txBody>
      </p:sp>
      <p:pic>
        <p:nvPicPr>
          <p:cNvPr id="5" name="Image 0" descr="preencoded.png"/>
          <p:cNvPicPr>
            <a:picLocks noChangeAspect="1"/>
          </p:cNvPicPr>
          <p:nvPr/>
        </p:nvPicPr>
        <p:blipFill>
          <a:blip r:embed="rId3"/>
          <a:stretch>
            <a:fillRect/>
          </a:stretch>
        </p:blipFill>
        <p:spPr>
          <a:xfrm>
            <a:off x="137160" y="685800"/>
            <a:ext cx="8869680" cy="4297680"/>
          </a:xfrm>
          <a:prstGeom prst="rect">
            <a:avLst/>
          </a:prstGeom>
        </p:spPr>
      </p:pic>
      <p:sp>
        <p:nvSpPr>
          <p:cNvPr id="6" name="Text 3"/>
          <p:cNvSpPr/>
          <p:nvPr/>
        </p:nvSpPr>
        <p:spPr>
          <a:xfrm>
            <a:off x="365760" y="4873752"/>
            <a:ext cx="8412480" cy="269748"/>
          </a:xfrm>
          <a:prstGeom prst="rect">
            <a:avLst/>
          </a:prstGeom>
          <a:noFill/>
          <a:ln/>
        </p:spPr>
        <p:txBody>
          <a:bodyPr wrap="square" rtlCol="0" anchor="ctr"/>
          <a:lstStyle/>
          <a:p>
            <a:pPr marL="0" indent="0">
              <a:buNone/>
            </a:pPr>
            <a:r>
              <a:rPr lang="en-US" sz="900" dirty="0">
                <a:solidFill>
                  <a:srgbClr val="666666"/>
                </a:solidFill>
                <a:latin typeface="Poppins" pitchFamily="2" charset="77"/>
                <a:ea typeface="Calibri" pitchFamily="34" charset="-122"/>
                <a:cs typeface="Poppins" pitchFamily="2" charset="77"/>
              </a:rPr>
              <a:t>CONFIDENTIAL – INTERNAL USE ONLY  |  ASCO 2025 Field Intelligence</a:t>
            </a:r>
            <a:endParaRPr lang="en-US" sz="900" dirty="0">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898</Words>
  <Application>Microsoft Macintosh PowerPoint</Application>
  <PresentationFormat>On-screen Show (16:9)</PresentationFormat>
  <Paragraphs>79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ASCO 2025 Executive Summary – OVT-209</dc:title>
  <dc:subject>PptxGenJS Presentation</dc:subject>
  <dc:creator>PptxGenJS</dc:creator>
  <cp:lastModifiedBy>Hannah Frankl</cp:lastModifiedBy>
  <cp:revision>5</cp:revision>
  <dcterms:created xsi:type="dcterms:W3CDTF">2026-04-24T21:10:32Z</dcterms:created>
  <dcterms:modified xsi:type="dcterms:W3CDTF">2026-04-24T22:49:09Z</dcterms:modified>
</cp:coreProperties>
</file>