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h+TfPNjoTwRpUBDZMi1nAqGMnF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23D5A9C-6987-402F-99EB-95BBD4E443FB}">
  <a:tblStyle styleId="{623D5A9C-6987-402F-99EB-95BBD4E443F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 name="Google Shape;2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5" name="Google Shape;25;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 name="Google Shape;5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2" name="Google Shape;52;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 name="Google Shape;6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4" name="Google Shape;64;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8" name="Google Shape;88;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5" name="Google Shape;115;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0" name="Google Shape;13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0" name="Google Shape;15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0" name="Google Shape;170;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0" name="Google Shape;190;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0" name="Google Shape;210;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6" name="Google Shape;226;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 name="Shape 11"/>
        <p:cNvGrpSpPr/>
        <p:nvPr/>
      </p:nvGrpSpPr>
      <p:grpSpPr>
        <a:xfrm>
          <a:off x="0" y="0"/>
          <a:ext cx="0" cy="0"/>
          <a:chOff x="0" y="0"/>
          <a:chExt cx="0" cy="0"/>
        </a:xfrm>
      </p:grpSpPr>
      <p:sp>
        <p:nvSpPr>
          <p:cNvPr id="12" name="Google Shape;12;p1"/>
          <p:cNvSpPr/>
          <p:nvPr/>
        </p:nvSpPr>
        <p:spPr>
          <a:xfrm>
            <a:off x="0" y="0"/>
            <a:ext cx="9144000" cy="1097280"/>
          </a:xfrm>
          <a:prstGeom prst="rect">
            <a:avLst/>
          </a:prstGeom>
          <a:solidFill>
            <a:srgbClr val="1A3A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1"/>
          <p:cNvSpPr/>
          <p:nvPr/>
        </p:nvSpPr>
        <p:spPr>
          <a:xfrm>
            <a:off x="457200" y="18288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ORIVUS THERAPEUTICS</a:t>
            </a:r>
            <a:endParaRPr sz="1200">
              <a:solidFill>
                <a:schemeClr val="dk1"/>
              </a:solidFill>
              <a:latin typeface="Calibri"/>
              <a:ea typeface="Calibri"/>
              <a:cs typeface="Calibri"/>
              <a:sym typeface="Calibri"/>
            </a:endParaRPr>
          </a:p>
        </p:txBody>
      </p:sp>
      <p:sp>
        <p:nvSpPr>
          <p:cNvPr id="14" name="Google Shape;14;p1"/>
          <p:cNvSpPr/>
          <p:nvPr/>
        </p:nvSpPr>
        <p:spPr>
          <a:xfrm>
            <a:off x="457200" y="45720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CCCCC"/>
              </a:buClr>
              <a:buSzPts val="1000"/>
              <a:buFont typeface="Calibri"/>
              <a:buNone/>
            </a:pPr>
            <a:r>
              <a:rPr lang="en-US" sz="1000">
                <a:solidFill>
                  <a:srgbClr val="CCCCCC"/>
                </a:solidFill>
                <a:latin typeface="Calibri"/>
                <a:ea typeface="Calibri"/>
                <a:cs typeface="Calibri"/>
                <a:sym typeface="Calibri"/>
              </a:rPr>
              <a:t>Medical Affairs Training</a:t>
            </a:r>
            <a:endParaRPr sz="1000">
              <a:solidFill>
                <a:schemeClr val="dk1"/>
              </a:solidFill>
              <a:latin typeface="Calibri"/>
              <a:ea typeface="Calibri"/>
              <a:cs typeface="Calibri"/>
              <a:sym typeface="Calibri"/>
            </a:endParaRPr>
          </a:p>
        </p:txBody>
      </p:sp>
      <p:sp>
        <p:nvSpPr>
          <p:cNvPr id="15" name="Google Shape;15;p1"/>
          <p:cNvSpPr/>
          <p:nvPr/>
        </p:nvSpPr>
        <p:spPr>
          <a:xfrm>
            <a:off x="457200" y="164592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2800"/>
              <a:buFont typeface="Calibri"/>
              <a:buNone/>
            </a:pPr>
            <a:r>
              <a:rPr b="1" lang="en-US" sz="2800">
                <a:solidFill>
                  <a:srgbClr val="1A3A5C"/>
                </a:solidFill>
                <a:latin typeface="Calibri"/>
                <a:ea typeface="Calibri"/>
                <a:cs typeface="Calibri"/>
                <a:sym typeface="Calibri"/>
              </a:rPr>
              <a:t>OVT-209 Disease State &amp; Product Training</a:t>
            </a:r>
            <a:endParaRPr sz="2800">
              <a:solidFill>
                <a:schemeClr val="dk1"/>
              </a:solidFill>
              <a:latin typeface="Calibri"/>
              <a:ea typeface="Calibri"/>
              <a:cs typeface="Calibri"/>
              <a:sym typeface="Calibri"/>
            </a:endParaRPr>
          </a:p>
        </p:txBody>
      </p:sp>
      <p:sp>
        <p:nvSpPr>
          <p:cNvPr id="16" name="Google Shape;16;p1"/>
          <p:cNvSpPr/>
          <p:nvPr/>
        </p:nvSpPr>
        <p:spPr>
          <a:xfrm>
            <a:off x="457200" y="228600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1600"/>
              <a:buFont typeface="Calibri"/>
              <a:buNone/>
            </a:pPr>
            <a:r>
              <a:rPr lang="en-US" sz="1600">
                <a:solidFill>
                  <a:srgbClr val="666666"/>
                </a:solidFill>
                <a:latin typeface="Calibri"/>
                <a:ea typeface="Calibri"/>
                <a:cs typeface="Calibri"/>
                <a:sym typeface="Calibri"/>
              </a:rPr>
              <a:t>Southeast Region MSL Team | Q2 2025 Training Series</a:t>
            </a:r>
            <a:endParaRPr sz="1600">
              <a:solidFill>
                <a:schemeClr val="dk1"/>
              </a:solidFill>
              <a:latin typeface="Calibri"/>
              <a:ea typeface="Calibri"/>
              <a:cs typeface="Calibri"/>
              <a:sym typeface="Calibri"/>
            </a:endParaRPr>
          </a:p>
        </p:txBody>
      </p:sp>
      <p:sp>
        <p:nvSpPr>
          <p:cNvPr id="17" name="Google Shape;17;p1"/>
          <p:cNvSpPr/>
          <p:nvPr/>
        </p:nvSpPr>
        <p:spPr>
          <a:xfrm>
            <a:off x="457200" y="29260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020"/>
              </a:buClr>
              <a:buSzPts val="1400"/>
              <a:buFont typeface="Calibri"/>
              <a:buNone/>
            </a:pPr>
            <a:r>
              <a:rPr b="1" lang="en-US" sz="1400">
                <a:solidFill>
                  <a:srgbClr val="E07020"/>
                </a:solidFill>
                <a:latin typeface="Calibri"/>
                <a:ea typeface="Calibri"/>
                <a:cs typeface="Calibri"/>
                <a:sym typeface="Calibri"/>
              </a:rPr>
              <a:t>Session 3 of 4: NSCLC Landscape &amp; OVT-209 Clinical Data</a:t>
            </a:r>
            <a:endParaRPr sz="1400">
              <a:solidFill>
                <a:schemeClr val="dk1"/>
              </a:solidFill>
              <a:latin typeface="Calibri"/>
              <a:ea typeface="Calibri"/>
              <a:cs typeface="Calibri"/>
              <a:sym typeface="Calibri"/>
            </a:endParaRPr>
          </a:p>
        </p:txBody>
      </p:sp>
      <p:sp>
        <p:nvSpPr>
          <p:cNvPr id="18" name="Google Shape;18;p1"/>
          <p:cNvSpPr/>
          <p:nvPr/>
        </p:nvSpPr>
        <p:spPr>
          <a:xfrm>
            <a:off x="457200" y="32918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1200"/>
              <a:buFont typeface="Calibri"/>
              <a:buNone/>
            </a:pPr>
            <a:r>
              <a:rPr lang="en-US" sz="1200">
                <a:solidFill>
                  <a:srgbClr val="666666"/>
                </a:solidFill>
                <a:latin typeface="Calibri"/>
                <a:ea typeface="Calibri"/>
                <a:cs typeface="Calibri"/>
                <a:sym typeface="Calibri"/>
              </a:rPr>
              <a:t>April 15, 2025 | Atlanta Training Center | 9:00 AM - 4:00 PM ET</a:t>
            </a:r>
            <a:endParaRPr sz="1200">
              <a:solidFill>
                <a:schemeClr val="dk1"/>
              </a:solidFill>
              <a:latin typeface="Calibri"/>
              <a:ea typeface="Calibri"/>
              <a:cs typeface="Calibri"/>
              <a:sym typeface="Calibri"/>
            </a:endParaRPr>
          </a:p>
        </p:txBody>
      </p:sp>
      <p:sp>
        <p:nvSpPr>
          <p:cNvPr id="19" name="Google Shape;19;p1"/>
          <p:cNvSpPr/>
          <p:nvPr/>
        </p:nvSpPr>
        <p:spPr>
          <a:xfrm>
            <a:off x="457200" y="3931920"/>
            <a:ext cx="8229600" cy="731520"/>
          </a:xfrm>
          <a:prstGeom prst="rect">
            <a:avLst/>
          </a:prstGeom>
          <a:solidFill>
            <a:srgbClr val="F5F5F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548640" y="4023360"/>
            <a:ext cx="80467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000"/>
              <a:buFont typeface="Calibri"/>
              <a:buNone/>
            </a:pPr>
            <a:r>
              <a:rPr lang="en-US" sz="1000">
                <a:solidFill>
                  <a:srgbClr val="333333"/>
                </a:solidFill>
                <a:latin typeface="Calibri"/>
                <a:ea typeface="Calibri"/>
                <a:cs typeface="Calibri"/>
                <a:sym typeface="Calibri"/>
              </a:rPr>
              <a:t>PRE-READ REQUIRED: OVT-209 Investigator Brochure v4.2, NCCN NSCLC Guidelines v2.2025</a:t>
            </a:r>
            <a:endParaRPr sz="1000">
              <a:solidFill>
                <a:schemeClr val="dk1"/>
              </a:solidFill>
              <a:latin typeface="Calibri"/>
              <a:ea typeface="Calibri"/>
              <a:cs typeface="Calibri"/>
              <a:sym typeface="Calibri"/>
            </a:endParaRPr>
          </a:p>
        </p:txBody>
      </p:sp>
      <p:sp>
        <p:nvSpPr>
          <p:cNvPr id="21" name="Google Shape;21;p1"/>
          <p:cNvSpPr/>
          <p:nvPr/>
        </p:nvSpPr>
        <p:spPr>
          <a:xfrm>
            <a:off x="457200" y="46634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C0000"/>
              </a:buClr>
              <a:buSzPts val="900"/>
              <a:buFont typeface="Calibri"/>
              <a:buNone/>
            </a:pPr>
            <a:r>
              <a:rPr b="1" lang="en-US" sz="900">
                <a:solidFill>
                  <a:srgbClr val="CC0000"/>
                </a:solidFill>
                <a:latin typeface="Calibri"/>
                <a:ea typeface="Calibri"/>
                <a:cs typeface="Calibri"/>
                <a:sym typeface="Calibri"/>
              </a:rPr>
              <a:t>INTERNAL USE ONLY – DO NOT DISTRIBUTE</a:t>
            </a:r>
            <a:endParaRPr sz="9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2"/>
          <p:cNvSpPr/>
          <p:nvPr/>
        </p:nvSpPr>
        <p:spPr>
          <a:xfrm>
            <a:off x="0" y="0"/>
            <a:ext cx="9144000" cy="548640"/>
          </a:xfrm>
          <a:prstGeom prst="rect">
            <a:avLst/>
          </a:prstGeom>
          <a:solidFill>
            <a:srgbClr val="1A3A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 name="Google Shape;28;p2"/>
          <p:cNvSpPr/>
          <p:nvPr/>
        </p:nvSpPr>
        <p:spPr>
          <a:xfrm>
            <a:off x="457200" y="1371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Session Instructors &amp; Support Staff</a:t>
            </a:r>
            <a:endParaRPr sz="1600">
              <a:solidFill>
                <a:schemeClr val="dk1"/>
              </a:solidFill>
              <a:latin typeface="Calibri"/>
              <a:ea typeface="Calibri"/>
              <a:cs typeface="Calibri"/>
              <a:sym typeface="Calibri"/>
            </a:endParaRPr>
          </a:p>
        </p:txBody>
      </p:sp>
      <p:sp>
        <p:nvSpPr>
          <p:cNvPr id="29" name="Google Shape;29;p2"/>
          <p:cNvSpPr/>
          <p:nvPr/>
        </p:nvSpPr>
        <p:spPr>
          <a:xfrm>
            <a:off x="457200" y="822960"/>
            <a:ext cx="3931920" cy="1371600"/>
          </a:xfrm>
          <a:prstGeom prst="rect">
            <a:avLst/>
          </a:prstGeom>
          <a:solidFill>
            <a:srgbClr val="F5F5F5"/>
          </a:solidFill>
          <a:ln cap="flat" cmpd="sng" w="12700">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 name="Google Shape;30;p2"/>
          <p:cNvSpPr/>
          <p:nvPr/>
        </p:nvSpPr>
        <p:spPr>
          <a:xfrm>
            <a:off x="548640" y="868680"/>
            <a:ext cx="37490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020"/>
              </a:buClr>
              <a:buSzPts val="900"/>
              <a:buFont typeface="Calibri"/>
              <a:buNone/>
            </a:pPr>
            <a:r>
              <a:rPr b="1" lang="en-US" sz="900">
                <a:solidFill>
                  <a:srgbClr val="E07020"/>
                </a:solidFill>
                <a:latin typeface="Calibri"/>
                <a:ea typeface="Calibri"/>
                <a:cs typeface="Calibri"/>
                <a:sym typeface="Calibri"/>
              </a:rPr>
              <a:t>Lead Instructor</a:t>
            </a:r>
            <a:endParaRPr sz="900">
              <a:solidFill>
                <a:schemeClr val="dk1"/>
              </a:solidFill>
              <a:latin typeface="Calibri"/>
              <a:ea typeface="Calibri"/>
              <a:cs typeface="Calibri"/>
              <a:sym typeface="Calibri"/>
            </a:endParaRPr>
          </a:p>
        </p:txBody>
      </p:sp>
      <p:sp>
        <p:nvSpPr>
          <p:cNvPr id="31" name="Google Shape;31;p2"/>
          <p:cNvSpPr/>
          <p:nvPr/>
        </p:nvSpPr>
        <p:spPr>
          <a:xfrm>
            <a:off x="548640" y="1097280"/>
            <a:ext cx="37490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b="1" lang="en-US" sz="1100">
                <a:solidFill>
                  <a:srgbClr val="333333"/>
                </a:solidFill>
                <a:latin typeface="Calibri"/>
                <a:ea typeface="Calibri"/>
                <a:cs typeface="Calibri"/>
                <a:sym typeface="Calibri"/>
              </a:rPr>
              <a:t>Dr. Rebecca Martinez, PharmD, BCOP</a:t>
            </a:r>
            <a:endParaRPr sz="1100">
              <a:solidFill>
                <a:schemeClr val="dk1"/>
              </a:solidFill>
              <a:latin typeface="Calibri"/>
              <a:ea typeface="Calibri"/>
              <a:cs typeface="Calibri"/>
              <a:sym typeface="Calibri"/>
            </a:endParaRPr>
          </a:p>
        </p:txBody>
      </p:sp>
      <p:sp>
        <p:nvSpPr>
          <p:cNvPr id="32" name="Google Shape;32;p2"/>
          <p:cNvSpPr/>
          <p:nvPr/>
        </p:nvSpPr>
        <p:spPr>
          <a:xfrm>
            <a:off x="548640" y="1371600"/>
            <a:ext cx="37490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900"/>
              <a:buFont typeface="Calibri"/>
              <a:buNone/>
            </a:pPr>
            <a:r>
              <a:rPr lang="en-US" sz="900">
                <a:solidFill>
                  <a:srgbClr val="666666"/>
                </a:solidFill>
                <a:latin typeface="Calibri"/>
                <a:ea typeface="Calibri"/>
                <a:cs typeface="Calibri"/>
                <a:sym typeface="Calibri"/>
              </a:rPr>
              <a:t>Sr. Director, Medical Affairs - Thoracic Oncology</a:t>
            </a:r>
            <a:endParaRPr sz="900">
              <a:solidFill>
                <a:schemeClr val="dk1"/>
              </a:solidFill>
              <a:latin typeface="Calibri"/>
              <a:ea typeface="Calibri"/>
              <a:cs typeface="Calibri"/>
              <a:sym typeface="Calibri"/>
            </a:endParaRPr>
          </a:p>
          <a:p>
            <a:pPr indent="0" lvl="0" marL="0" marR="0" rtl="0" algn="l">
              <a:spcBef>
                <a:spcPts val="0"/>
              </a:spcBef>
              <a:spcAft>
                <a:spcPts val="0"/>
              </a:spcAft>
              <a:buClr>
                <a:srgbClr val="666666"/>
              </a:buClr>
              <a:buSzPts val="900"/>
              <a:buFont typeface="Calibri"/>
              <a:buNone/>
            </a:pPr>
            <a:r>
              <a:rPr lang="en-US" sz="900">
                <a:solidFill>
                  <a:srgbClr val="666666"/>
                </a:solidFill>
                <a:latin typeface="Calibri"/>
                <a:ea typeface="Calibri"/>
                <a:cs typeface="Calibri"/>
                <a:sym typeface="Calibri"/>
              </a:rPr>
              <a:t>Orivus Therapeutics | 15+ years oncology experience</a:t>
            </a:r>
            <a:endParaRPr sz="900">
              <a:solidFill>
                <a:schemeClr val="dk1"/>
              </a:solidFill>
              <a:latin typeface="Calibri"/>
              <a:ea typeface="Calibri"/>
              <a:cs typeface="Calibri"/>
              <a:sym typeface="Calibri"/>
            </a:endParaRPr>
          </a:p>
          <a:p>
            <a:pPr indent="0" lvl="0" marL="0" marR="0" rtl="0" algn="l">
              <a:spcBef>
                <a:spcPts val="0"/>
              </a:spcBef>
              <a:spcAft>
                <a:spcPts val="0"/>
              </a:spcAft>
              <a:buClr>
                <a:srgbClr val="666666"/>
              </a:buClr>
              <a:buSzPts val="900"/>
              <a:buFont typeface="Calibri"/>
              <a:buNone/>
            </a:pPr>
            <a:r>
              <a:rPr lang="en-US" sz="900">
                <a:solidFill>
                  <a:srgbClr val="666666"/>
                </a:solidFill>
                <a:latin typeface="Calibri"/>
                <a:ea typeface="Calibri"/>
                <a:cs typeface="Calibri"/>
                <a:sym typeface="Calibri"/>
              </a:rPr>
              <a:t>Former clinical pharmacist, MD Anderson</a:t>
            </a:r>
            <a:endParaRPr sz="900">
              <a:solidFill>
                <a:schemeClr val="dk1"/>
              </a:solidFill>
              <a:latin typeface="Calibri"/>
              <a:ea typeface="Calibri"/>
              <a:cs typeface="Calibri"/>
              <a:sym typeface="Calibri"/>
            </a:endParaRPr>
          </a:p>
        </p:txBody>
      </p:sp>
      <p:sp>
        <p:nvSpPr>
          <p:cNvPr id="33" name="Google Shape;33;p2"/>
          <p:cNvSpPr/>
          <p:nvPr/>
        </p:nvSpPr>
        <p:spPr>
          <a:xfrm>
            <a:off x="4754880" y="822960"/>
            <a:ext cx="3931920" cy="1371600"/>
          </a:xfrm>
          <a:prstGeom prst="rect">
            <a:avLst/>
          </a:prstGeom>
          <a:solidFill>
            <a:srgbClr val="F5F5F5"/>
          </a:solidFill>
          <a:ln cap="flat" cmpd="sng" w="12700">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p2"/>
          <p:cNvSpPr/>
          <p:nvPr/>
        </p:nvSpPr>
        <p:spPr>
          <a:xfrm>
            <a:off x="4846320" y="868680"/>
            <a:ext cx="37490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020"/>
              </a:buClr>
              <a:buSzPts val="900"/>
              <a:buFont typeface="Calibri"/>
              <a:buNone/>
            </a:pPr>
            <a:r>
              <a:rPr b="1" lang="en-US" sz="900">
                <a:solidFill>
                  <a:srgbClr val="E07020"/>
                </a:solidFill>
                <a:latin typeface="Calibri"/>
                <a:ea typeface="Calibri"/>
                <a:cs typeface="Calibri"/>
                <a:sym typeface="Calibri"/>
              </a:rPr>
              <a:t>Clinical Expert (External)</a:t>
            </a:r>
            <a:endParaRPr sz="900">
              <a:solidFill>
                <a:schemeClr val="dk1"/>
              </a:solidFill>
              <a:latin typeface="Calibri"/>
              <a:ea typeface="Calibri"/>
              <a:cs typeface="Calibri"/>
              <a:sym typeface="Calibri"/>
            </a:endParaRPr>
          </a:p>
        </p:txBody>
      </p:sp>
      <p:sp>
        <p:nvSpPr>
          <p:cNvPr id="35" name="Google Shape;35;p2"/>
          <p:cNvSpPr/>
          <p:nvPr/>
        </p:nvSpPr>
        <p:spPr>
          <a:xfrm>
            <a:off x="4846320" y="1097280"/>
            <a:ext cx="37490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b="1" lang="en-US" sz="1100">
                <a:solidFill>
                  <a:srgbClr val="333333"/>
                </a:solidFill>
                <a:latin typeface="Calibri"/>
                <a:ea typeface="Calibri"/>
                <a:cs typeface="Calibri"/>
                <a:sym typeface="Calibri"/>
              </a:rPr>
              <a:t>Dr. William Chen, MD, PhD</a:t>
            </a:r>
            <a:endParaRPr sz="1100">
              <a:solidFill>
                <a:schemeClr val="dk1"/>
              </a:solidFill>
              <a:latin typeface="Calibri"/>
              <a:ea typeface="Calibri"/>
              <a:cs typeface="Calibri"/>
              <a:sym typeface="Calibri"/>
            </a:endParaRPr>
          </a:p>
        </p:txBody>
      </p:sp>
      <p:sp>
        <p:nvSpPr>
          <p:cNvPr id="36" name="Google Shape;36;p2"/>
          <p:cNvSpPr/>
          <p:nvPr/>
        </p:nvSpPr>
        <p:spPr>
          <a:xfrm>
            <a:off x="4846320" y="1371600"/>
            <a:ext cx="37490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900"/>
              <a:buFont typeface="Calibri"/>
              <a:buNone/>
            </a:pPr>
            <a:r>
              <a:rPr lang="en-US" sz="900">
                <a:solidFill>
                  <a:srgbClr val="666666"/>
                </a:solidFill>
                <a:latin typeface="Calibri"/>
                <a:ea typeface="Calibri"/>
                <a:cs typeface="Calibri"/>
                <a:sym typeface="Calibri"/>
              </a:rPr>
              <a:t>Professor of Medicine, Emory Winship Cancer Institute</a:t>
            </a:r>
            <a:endParaRPr sz="900">
              <a:solidFill>
                <a:schemeClr val="dk1"/>
              </a:solidFill>
              <a:latin typeface="Calibri"/>
              <a:ea typeface="Calibri"/>
              <a:cs typeface="Calibri"/>
              <a:sym typeface="Calibri"/>
            </a:endParaRPr>
          </a:p>
          <a:p>
            <a:pPr indent="0" lvl="0" marL="0" marR="0" rtl="0" algn="l">
              <a:spcBef>
                <a:spcPts val="0"/>
              </a:spcBef>
              <a:spcAft>
                <a:spcPts val="0"/>
              </a:spcAft>
              <a:buClr>
                <a:srgbClr val="666666"/>
              </a:buClr>
              <a:buSzPts val="900"/>
              <a:buFont typeface="Calibri"/>
              <a:buNone/>
            </a:pPr>
            <a:r>
              <a:rPr lang="en-US" sz="900">
                <a:solidFill>
                  <a:srgbClr val="666666"/>
                </a:solidFill>
                <a:latin typeface="Calibri"/>
                <a:ea typeface="Calibri"/>
                <a:cs typeface="Calibri"/>
                <a:sym typeface="Calibri"/>
              </a:rPr>
              <a:t>Principal Investigator, OVT-209-201 Study</a:t>
            </a:r>
            <a:endParaRPr sz="900">
              <a:solidFill>
                <a:schemeClr val="dk1"/>
              </a:solidFill>
              <a:latin typeface="Calibri"/>
              <a:ea typeface="Calibri"/>
              <a:cs typeface="Calibri"/>
              <a:sym typeface="Calibri"/>
            </a:endParaRPr>
          </a:p>
          <a:p>
            <a:pPr indent="0" lvl="0" marL="0" marR="0" rtl="0" algn="l">
              <a:spcBef>
                <a:spcPts val="0"/>
              </a:spcBef>
              <a:spcAft>
                <a:spcPts val="0"/>
              </a:spcAft>
              <a:buClr>
                <a:srgbClr val="666666"/>
              </a:buClr>
              <a:buSzPts val="900"/>
              <a:buFont typeface="Calibri"/>
              <a:buNone/>
            </a:pPr>
            <a:r>
              <a:rPr lang="en-US" sz="900">
                <a:solidFill>
                  <a:srgbClr val="666666"/>
                </a:solidFill>
                <a:latin typeface="Calibri"/>
                <a:ea typeface="Calibri"/>
                <a:cs typeface="Calibri"/>
                <a:sym typeface="Calibri"/>
              </a:rPr>
              <a:t>ASCO Lung Cancer Track Chair 2024</a:t>
            </a:r>
            <a:endParaRPr sz="900">
              <a:solidFill>
                <a:schemeClr val="dk1"/>
              </a:solidFill>
              <a:latin typeface="Calibri"/>
              <a:ea typeface="Calibri"/>
              <a:cs typeface="Calibri"/>
              <a:sym typeface="Calibri"/>
            </a:endParaRPr>
          </a:p>
        </p:txBody>
      </p:sp>
      <p:sp>
        <p:nvSpPr>
          <p:cNvPr id="37" name="Google Shape;37;p2"/>
          <p:cNvSpPr/>
          <p:nvPr/>
        </p:nvSpPr>
        <p:spPr>
          <a:xfrm>
            <a:off x="457200" y="2377440"/>
            <a:ext cx="3931920" cy="1188720"/>
          </a:xfrm>
          <a:prstGeom prst="rect">
            <a:avLst/>
          </a:prstGeom>
          <a:solidFill>
            <a:srgbClr val="F5F5F5"/>
          </a:solidFill>
          <a:ln cap="flat" cmpd="sng" w="12700">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 name="Google Shape;38;p2"/>
          <p:cNvSpPr/>
          <p:nvPr/>
        </p:nvSpPr>
        <p:spPr>
          <a:xfrm>
            <a:off x="548640" y="2423160"/>
            <a:ext cx="37490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020"/>
              </a:buClr>
              <a:buSzPts val="900"/>
              <a:buFont typeface="Calibri"/>
              <a:buNone/>
            </a:pPr>
            <a:r>
              <a:rPr b="1" lang="en-US" sz="900">
                <a:solidFill>
                  <a:srgbClr val="E07020"/>
                </a:solidFill>
                <a:latin typeface="Calibri"/>
                <a:ea typeface="Calibri"/>
                <a:cs typeface="Calibri"/>
                <a:sym typeface="Calibri"/>
              </a:rPr>
              <a:t>Training Coordinator</a:t>
            </a:r>
            <a:endParaRPr sz="900">
              <a:solidFill>
                <a:schemeClr val="dk1"/>
              </a:solidFill>
              <a:latin typeface="Calibri"/>
              <a:ea typeface="Calibri"/>
              <a:cs typeface="Calibri"/>
              <a:sym typeface="Calibri"/>
            </a:endParaRPr>
          </a:p>
        </p:txBody>
      </p:sp>
      <p:sp>
        <p:nvSpPr>
          <p:cNvPr id="39" name="Google Shape;39;p2"/>
          <p:cNvSpPr/>
          <p:nvPr/>
        </p:nvSpPr>
        <p:spPr>
          <a:xfrm>
            <a:off x="548640" y="2651760"/>
            <a:ext cx="37490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b="1" lang="en-US" sz="1100">
                <a:solidFill>
                  <a:srgbClr val="333333"/>
                </a:solidFill>
                <a:latin typeface="Calibri"/>
                <a:ea typeface="Calibri"/>
                <a:cs typeface="Calibri"/>
                <a:sym typeface="Calibri"/>
              </a:rPr>
              <a:t>Jennifer Walsh</a:t>
            </a:r>
            <a:endParaRPr sz="1100">
              <a:solidFill>
                <a:schemeClr val="dk1"/>
              </a:solidFill>
              <a:latin typeface="Calibri"/>
              <a:ea typeface="Calibri"/>
              <a:cs typeface="Calibri"/>
              <a:sym typeface="Calibri"/>
            </a:endParaRPr>
          </a:p>
        </p:txBody>
      </p:sp>
      <p:sp>
        <p:nvSpPr>
          <p:cNvPr id="40" name="Google Shape;40;p2"/>
          <p:cNvSpPr/>
          <p:nvPr/>
        </p:nvSpPr>
        <p:spPr>
          <a:xfrm>
            <a:off x="548640" y="2880360"/>
            <a:ext cx="37490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900"/>
              <a:buFont typeface="Calibri"/>
              <a:buNone/>
            </a:pPr>
            <a:r>
              <a:rPr lang="en-US" sz="900">
                <a:solidFill>
                  <a:srgbClr val="666666"/>
                </a:solidFill>
                <a:latin typeface="Calibri"/>
                <a:ea typeface="Calibri"/>
                <a:cs typeface="Calibri"/>
                <a:sym typeface="Calibri"/>
              </a:rPr>
              <a:t>Manager, MSL Training &amp; Development</a:t>
            </a:r>
            <a:endParaRPr sz="900">
              <a:solidFill>
                <a:schemeClr val="dk1"/>
              </a:solidFill>
              <a:latin typeface="Calibri"/>
              <a:ea typeface="Calibri"/>
              <a:cs typeface="Calibri"/>
              <a:sym typeface="Calibri"/>
            </a:endParaRPr>
          </a:p>
          <a:p>
            <a:pPr indent="0" lvl="0" marL="0" marR="0" rtl="0" algn="l">
              <a:spcBef>
                <a:spcPts val="0"/>
              </a:spcBef>
              <a:spcAft>
                <a:spcPts val="0"/>
              </a:spcAft>
              <a:buClr>
                <a:srgbClr val="666666"/>
              </a:buClr>
              <a:buSzPts val="900"/>
              <a:buFont typeface="Calibri"/>
              <a:buNone/>
            </a:pPr>
            <a:r>
              <a:rPr lang="en-US" sz="900">
                <a:solidFill>
                  <a:srgbClr val="666666"/>
                </a:solidFill>
                <a:latin typeface="Calibri"/>
                <a:ea typeface="Calibri"/>
                <a:cs typeface="Calibri"/>
                <a:sym typeface="Calibri"/>
              </a:rPr>
              <a:t>Logistics, materials, CE credits</a:t>
            </a:r>
            <a:endParaRPr sz="900">
              <a:solidFill>
                <a:schemeClr val="dk1"/>
              </a:solidFill>
              <a:latin typeface="Calibri"/>
              <a:ea typeface="Calibri"/>
              <a:cs typeface="Calibri"/>
              <a:sym typeface="Calibri"/>
            </a:endParaRPr>
          </a:p>
        </p:txBody>
      </p:sp>
      <p:sp>
        <p:nvSpPr>
          <p:cNvPr id="41" name="Google Shape;41;p2"/>
          <p:cNvSpPr/>
          <p:nvPr/>
        </p:nvSpPr>
        <p:spPr>
          <a:xfrm>
            <a:off x="4754880" y="2377440"/>
            <a:ext cx="3931920" cy="1188720"/>
          </a:xfrm>
          <a:prstGeom prst="rect">
            <a:avLst/>
          </a:prstGeom>
          <a:solidFill>
            <a:srgbClr val="F5F5F5"/>
          </a:solidFill>
          <a:ln cap="flat" cmpd="sng" w="12700">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 name="Google Shape;42;p2"/>
          <p:cNvSpPr/>
          <p:nvPr/>
        </p:nvSpPr>
        <p:spPr>
          <a:xfrm>
            <a:off x="4846320" y="2423160"/>
            <a:ext cx="37490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020"/>
              </a:buClr>
              <a:buSzPts val="900"/>
              <a:buFont typeface="Calibri"/>
              <a:buNone/>
            </a:pPr>
            <a:r>
              <a:rPr b="1" lang="en-US" sz="900">
                <a:solidFill>
                  <a:srgbClr val="E07020"/>
                </a:solidFill>
                <a:latin typeface="Calibri"/>
                <a:ea typeface="Calibri"/>
                <a:cs typeface="Calibri"/>
                <a:sym typeface="Calibri"/>
              </a:rPr>
              <a:t>Regional MSL Director</a:t>
            </a:r>
            <a:endParaRPr sz="900">
              <a:solidFill>
                <a:schemeClr val="dk1"/>
              </a:solidFill>
              <a:latin typeface="Calibri"/>
              <a:ea typeface="Calibri"/>
              <a:cs typeface="Calibri"/>
              <a:sym typeface="Calibri"/>
            </a:endParaRPr>
          </a:p>
        </p:txBody>
      </p:sp>
      <p:sp>
        <p:nvSpPr>
          <p:cNvPr id="43" name="Google Shape;43;p2"/>
          <p:cNvSpPr/>
          <p:nvPr/>
        </p:nvSpPr>
        <p:spPr>
          <a:xfrm>
            <a:off x="4846320" y="2651760"/>
            <a:ext cx="37490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b="1" lang="en-US" sz="1100">
                <a:solidFill>
                  <a:srgbClr val="333333"/>
                </a:solidFill>
                <a:latin typeface="Calibri"/>
                <a:ea typeface="Calibri"/>
                <a:cs typeface="Calibri"/>
                <a:sym typeface="Calibri"/>
              </a:rPr>
              <a:t>Marcus Thompson, PharmD</a:t>
            </a:r>
            <a:endParaRPr sz="1100">
              <a:solidFill>
                <a:schemeClr val="dk1"/>
              </a:solidFill>
              <a:latin typeface="Calibri"/>
              <a:ea typeface="Calibri"/>
              <a:cs typeface="Calibri"/>
              <a:sym typeface="Calibri"/>
            </a:endParaRPr>
          </a:p>
        </p:txBody>
      </p:sp>
      <p:sp>
        <p:nvSpPr>
          <p:cNvPr id="44" name="Google Shape;44;p2"/>
          <p:cNvSpPr/>
          <p:nvPr/>
        </p:nvSpPr>
        <p:spPr>
          <a:xfrm>
            <a:off x="4846320" y="2880360"/>
            <a:ext cx="37490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900"/>
              <a:buFont typeface="Calibri"/>
              <a:buNone/>
            </a:pPr>
            <a:r>
              <a:rPr lang="en-US" sz="900">
                <a:solidFill>
                  <a:srgbClr val="666666"/>
                </a:solidFill>
                <a:latin typeface="Calibri"/>
                <a:ea typeface="Calibri"/>
                <a:cs typeface="Calibri"/>
                <a:sym typeface="Calibri"/>
              </a:rPr>
              <a:t>Southeast Region Lead</a:t>
            </a:r>
            <a:endParaRPr sz="900">
              <a:solidFill>
                <a:schemeClr val="dk1"/>
              </a:solidFill>
              <a:latin typeface="Calibri"/>
              <a:ea typeface="Calibri"/>
              <a:cs typeface="Calibri"/>
              <a:sym typeface="Calibri"/>
            </a:endParaRPr>
          </a:p>
          <a:p>
            <a:pPr indent="0" lvl="0" marL="0" marR="0" rtl="0" algn="l">
              <a:spcBef>
                <a:spcPts val="0"/>
              </a:spcBef>
              <a:spcAft>
                <a:spcPts val="0"/>
              </a:spcAft>
              <a:buClr>
                <a:srgbClr val="666666"/>
              </a:buClr>
              <a:buSzPts val="900"/>
              <a:buFont typeface="Calibri"/>
              <a:buNone/>
            </a:pPr>
            <a:r>
              <a:rPr lang="en-US" sz="900">
                <a:solidFill>
                  <a:srgbClr val="666666"/>
                </a:solidFill>
                <a:latin typeface="Calibri"/>
                <a:ea typeface="Calibri"/>
                <a:cs typeface="Calibri"/>
                <a:sym typeface="Calibri"/>
              </a:rPr>
              <a:t>Field perspective &amp; coaching</a:t>
            </a:r>
            <a:endParaRPr sz="900">
              <a:solidFill>
                <a:schemeClr val="dk1"/>
              </a:solidFill>
              <a:latin typeface="Calibri"/>
              <a:ea typeface="Calibri"/>
              <a:cs typeface="Calibri"/>
              <a:sym typeface="Calibri"/>
            </a:endParaRPr>
          </a:p>
        </p:txBody>
      </p:sp>
      <p:sp>
        <p:nvSpPr>
          <p:cNvPr id="45" name="Google Shape;45;p2"/>
          <p:cNvSpPr/>
          <p:nvPr/>
        </p:nvSpPr>
        <p:spPr>
          <a:xfrm>
            <a:off x="457200" y="3749040"/>
            <a:ext cx="8229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000"/>
              <a:buFont typeface="Calibri"/>
              <a:buNone/>
            </a:pPr>
            <a:r>
              <a:rPr b="1" lang="en-US" sz="1000">
                <a:solidFill>
                  <a:srgbClr val="1A3A5C"/>
                </a:solidFill>
                <a:latin typeface="Calibri"/>
                <a:ea typeface="Calibri"/>
                <a:cs typeface="Calibri"/>
                <a:sym typeface="Calibri"/>
              </a:rPr>
              <a:t>ATTENDEES (12)</a:t>
            </a:r>
            <a:endParaRPr sz="1000">
              <a:solidFill>
                <a:schemeClr val="dk1"/>
              </a:solidFill>
              <a:latin typeface="Calibri"/>
              <a:ea typeface="Calibri"/>
              <a:cs typeface="Calibri"/>
              <a:sym typeface="Calibri"/>
            </a:endParaRPr>
          </a:p>
        </p:txBody>
      </p:sp>
      <p:sp>
        <p:nvSpPr>
          <p:cNvPr id="46" name="Google Shape;46;p2"/>
          <p:cNvSpPr/>
          <p:nvPr/>
        </p:nvSpPr>
        <p:spPr>
          <a:xfrm>
            <a:off x="457200" y="39776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900"/>
              <a:buFont typeface="Calibri"/>
              <a:buNone/>
            </a:pPr>
            <a:r>
              <a:rPr lang="en-US" sz="900">
                <a:solidFill>
                  <a:srgbClr val="666666"/>
                </a:solidFill>
                <a:latin typeface="Calibri"/>
                <a:ea typeface="Calibri"/>
                <a:cs typeface="Calibri"/>
                <a:sym typeface="Calibri"/>
              </a:rPr>
              <a:t>Sarah Chen (FL) • Michael Torres (GA) • Emily Rodriguez (NC) • David Park (SC) • Jennifer Williams (TN) • Amanda Foster (AL)</a:t>
            </a:r>
            <a:endParaRPr sz="900">
              <a:solidFill>
                <a:schemeClr val="dk1"/>
              </a:solidFill>
              <a:latin typeface="Calibri"/>
              <a:ea typeface="Calibri"/>
              <a:cs typeface="Calibri"/>
              <a:sym typeface="Calibri"/>
            </a:endParaRPr>
          </a:p>
          <a:p>
            <a:pPr indent="0" lvl="0" marL="0" marR="0" rtl="0" algn="l">
              <a:spcBef>
                <a:spcPts val="0"/>
              </a:spcBef>
              <a:spcAft>
                <a:spcPts val="0"/>
              </a:spcAft>
              <a:buClr>
                <a:srgbClr val="666666"/>
              </a:buClr>
              <a:buSzPts val="900"/>
              <a:buFont typeface="Calibri"/>
              <a:buNone/>
            </a:pPr>
            <a:r>
              <a:rPr lang="en-US" sz="900">
                <a:solidFill>
                  <a:srgbClr val="666666"/>
                </a:solidFill>
                <a:latin typeface="Calibri"/>
                <a:ea typeface="Calibri"/>
                <a:cs typeface="Calibri"/>
                <a:sym typeface="Calibri"/>
              </a:rPr>
              <a:t>Robert Kim (FL) • Lisa Patel (GA) • Christopher Lee (NC) • Maria Santos (SC) • James Wilson (TN) • Nicole Brown (AL)</a:t>
            </a:r>
            <a:endParaRPr sz="900">
              <a:solidFill>
                <a:schemeClr val="dk1"/>
              </a:solidFill>
              <a:latin typeface="Calibri"/>
              <a:ea typeface="Calibri"/>
              <a:cs typeface="Calibri"/>
              <a:sym typeface="Calibri"/>
            </a:endParaRPr>
          </a:p>
        </p:txBody>
      </p:sp>
      <p:sp>
        <p:nvSpPr>
          <p:cNvPr id="47" name="Google Shape;47;p2"/>
          <p:cNvSpPr/>
          <p:nvPr/>
        </p:nvSpPr>
        <p:spPr>
          <a:xfrm>
            <a:off x="457200" y="4709160"/>
            <a:ext cx="64008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800"/>
              <a:buFont typeface="Calibri"/>
              <a:buNone/>
            </a:pPr>
            <a:r>
              <a:rPr lang="en-US" sz="800">
                <a:solidFill>
                  <a:srgbClr val="666666"/>
                </a:solidFill>
                <a:latin typeface="Calibri"/>
                <a:ea typeface="Calibri"/>
                <a:cs typeface="Calibri"/>
                <a:sym typeface="Calibri"/>
              </a:rPr>
              <a:t>OVT-209 MSL Training Series | Session 3 | April 2025</a:t>
            </a:r>
            <a:endParaRPr sz="800">
              <a:solidFill>
                <a:schemeClr val="dk1"/>
              </a:solidFill>
              <a:latin typeface="Calibri"/>
              <a:ea typeface="Calibri"/>
              <a:cs typeface="Calibri"/>
              <a:sym typeface="Calibri"/>
            </a:endParaRPr>
          </a:p>
        </p:txBody>
      </p:sp>
      <p:sp>
        <p:nvSpPr>
          <p:cNvPr id="48" name="Google Shape;48;p2"/>
          <p:cNvSpPr/>
          <p:nvPr/>
        </p:nvSpPr>
        <p:spPr>
          <a:xfrm>
            <a:off x="7772400" y="4709160"/>
            <a:ext cx="9144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C0000"/>
              </a:buClr>
              <a:buSzPts val="800"/>
              <a:buFont typeface="Calibri"/>
              <a:buNone/>
            </a:pPr>
            <a:r>
              <a:rPr b="1" lang="en-US" sz="800">
                <a:solidFill>
                  <a:srgbClr val="CC0000"/>
                </a:solidFill>
                <a:latin typeface="Calibri"/>
                <a:ea typeface="Calibri"/>
                <a:cs typeface="Calibri"/>
                <a:sym typeface="Calibri"/>
              </a:rPr>
              <a:t>INTERNAL</a:t>
            </a:r>
            <a:endParaRPr sz="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3"/>
          <p:cNvSpPr/>
          <p:nvPr/>
        </p:nvSpPr>
        <p:spPr>
          <a:xfrm>
            <a:off x="0" y="0"/>
            <a:ext cx="9144000" cy="548640"/>
          </a:xfrm>
          <a:prstGeom prst="rect">
            <a:avLst/>
          </a:prstGeom>
          <a:solidFill>
            <a:srgbClr val="1A3A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3"/>
          <p:cNvSpPr/>
          <p:nvPr/>
        </p:nvSpPr>
        <p:spPr>
          <a:xfrm>
            <a:off x="457200" y="1371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Session Agenda</a:t>
            </a:r>
            <a:endParaRPr sz="1600">
              <a:solidFill>
                <a:schemeClr val="dk1"/>
              </a:solidFill>
              <a:latin typeface="Calibri"/>
              <a:ea typeface="Calibri"/>
              <a:cs typeface="Calibri"/>
              <a:sym typeface="Calibri"/>
            </a:endParaRPr>
          </a:p>
        </p:txBody>
      </p:sp>
      <p:graphicFrame>
        <p:nvGraphicFramePr>
          <p:cNvPr id="56" name="Google Shape;56;p3"/>
          <p:cNvGraphicFramePr/>
          <p:nvPr/>
        </p:nvGraphicFramePr>
        <p:xfrm>
          <a:off x="457200" y="731520"/>
          <a:ext cx="3000000" cy="3000000"/>
        </p:xfrm>
        <a:graphic>
          <a:graphicData uri="http://schemas.openxmlformats.org/drawingml/2006/table">
            <a:tbl>
              <a:tblPr>
                <a:noFill/>
                <a:tableStyleId>{623D5A9C-6987-402F-99EB-95BBD4E443FB}</a:tableStyleId>
              </a:tblPr>
              <a:tblGrid>
                <a:gridCol w="1188725"/>
                <a:gridCol w="4114800"/>
                <a:gridCol w="1828800"/>
                <a:gridCol w="1097275"/>
              </a:tblGrid>
              <a:tr h="34747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Time</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A3A5C"/>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Topic</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A3A5C"/>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Lead</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A3A5C"/>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Format</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A3A5C"/>
                    </a:solidFill>
                  </a:tcPr>
                </a:tc>
              </a:tr>
              <a:tr h="3474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9:00 - 9:15</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Welcome &amp; Objectives</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Marcus Thompson</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Lecture</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74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9:15 - 10:30</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NSCLC Treatment Landscape 2025</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Dr. Chen</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Lecture + Q&amp;A</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74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10:30 - 10:45</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BREAK - Coffee service in atrium</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Calibri"/>
                        <a:buNone/>
                      </a:pPr>
                      <a:r>
                        <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Calibri"/>
                        <a:buNone/>
                      </a:pPr>
                      <a:r>
                        <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74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10:45 - 12:00</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OVT-209 Phase II Data Deep Dive</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Dr. Martinez</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Lecture</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74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12:00 - 1:00</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LUNCH - Maggiano's catering, different menu from last time, includes vegetarian options</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Calibri"/>
                        <a:buNone/>
                      </a:pPr>
                      <a:r>
                        <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Boxed lunch</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74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1:00 - 2:30</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Safety Management &amp; ILD Protocols</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Dr. Martinez / Dr. Chen</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Case-based</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74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2:30 - 2:45</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BREAK </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Calibri"/>
                        <a:buNone/>
                      </a:pPr>
                      <a:r>
                        <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Calibri"/>
                        <a:buNone/>
                      </a:pPr>
                      <a:r>
                        <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74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2:45 - 3:45</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Competitive Positioning Workshop</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Marcus Thompson</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Breakout groups</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74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3:45 - 4:00</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Wrap-up, Q&amp;A, Evaluations</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All</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Discussion</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57" name="Google Shape;57;p3"/>
          <p:cNvSpPr/>
          <p:nvPr/>
        </p:nvSpPr>
        <p:spPr>
          <a:xfrm>
            <a:off x="457200" y="4297680"/>
            <a:ext cx="8229600" cy="365760"/>
          </a:xfrm>
          <a:prstGeom prst="rect">
            <a:avLst/>
          </a:prstGeom>
          <a:solidFill>
            <a:srgbClr val="FFF3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3"/>
          <p:cNvSpPr/>
          <p:nvPr/>
        </p:nvSpPr>
        <p:spPr>
          <a:xfrm>
            <a:off x="548640" y="4343400"/>
            <a:ext cx="80467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 Learning Objectives posted on p.2 of handout packet. Please sign attestation form before leaving.</a:t>
            </a:r>
            <a:endParaRPr sz="900">
              <a:solidFill>
                <a:schemeClr val="dk1"/>
              </a:solidFill>
              <a:latin typeface="Calibri"/>
              <a:ea typeface="Calibri"/>
              <a:cs typeface="Calibri"/>
              <a:sym typeface="Calibri"/>
            </a:endParaRPr>
          </a:p>
        </p:txBody>
      </p:sp>
      <p:sp>
        <p:nvSpPr>
          <p:cNvPr id="59" name="Google Shape;59;p3"/>
          <p:cNvSpPr/>
          <p:nvPr/>
        </p:nvSpPr>
        <p:spPr>
          <a:xfrm>
            <a:off x="457200" y="4709160"/>
            <a:ext cx="64008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800"/>
              <a:buFont typeface="Calibri"/>
              <a:buNone/>
            </a:pPr>
            <a:r>
              <a:rPr lang="en-US" sz="800">
                <a:solidFill>
                  <a:srgbClr val="666666"/>
                </a:solidFill>
                <a:latin typeface="Calibri"/>
                <a:ea typeface="Calibri"/>
                <a:cs typeface="Calibri"/>
                <a:sym typeface="Calibri"/>
              </a:rPr>
              <a:t>OVT-209 MSL Training Series | Session 3 | April 2025</a:t>
            </a:r>
            <a:endParaRPr sz="800">
              <a:solidFill>
                <a:schemeClr val="dk1"/>
              </a:solidFill>
              <a:latin typeface="Calibri"/>
              <a:ea typeface="Calibri"/>
              <a:cs typeface="Calibri"/>
              <a:sym typeface="Calibri"/>
            </a:endParaRPr>
          </a:p>
        </p:txBody>
      </p:sp>
      <p:sp>
        <p:nvSpPr>
          <p:cNvPr id="60" name="Google Shape;60;p3"/>
          <p:cNvSpPr/>
          <p:nvPr/>
        </p:nvSpPr>
        <p:spPr>
          <a:xfrm>
            <a:off x="7772400" y="4709160"/>
            <a:ext cx="9144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C0000"/>
              </a:buClr>
              <a:buSzPts val="800"/>
              <a:buFont typeface="Calibri"/>
              <a:buNone/>
            </a:pPr>
            <a:r>
              <a:rPr b="1" lang="en-US" sz="800">
                <a:solidFill>
                  <a:srgbClr val="CC0000"/>
                </a:solidFill>
                <a:latin typeface="Calibri"/>
                <a:ea typeface="Calibri"/>
                <a:cs typeface="Calibri"/>
                <a:sym typeface="Calibri"/>
              </a:rPr>
              <a:t>INTERNAL</a:t>
            </a:r>
            <a:endParaRPr sz="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4"/>
          <p:cNvSpPr/>
          <p:nvPr/>
        </p:nvSpPr>
        <p:spPr>
          <a:xfrm>
            <a:off x="0" y="0"/>
            <a:ext cx="9144000" cy="548640"/>
          </a:xfrm>
          <a:prstGeom prst="rect">
            <a:avLst/>
          </a:prstGeom>
          <a:solidFill>
            <a:srgbClr val="1A3A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 name="Google Shape;67;p4"/>
          <p:cNvSpPr/>
          <p:nvPr/>
        </p:nvSpPr>
        <p:spPr>
          <a:xfrm>
            <a:off x="457200" y="1371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Learning Objectives</a:t>
            </a:r>
            <a:endParaRPr sz="1600">
              <a:solidFill>
                <a:schemeClr val="dk1"/>
              </a:solidFill>
              <a:latin typeface="Calibri"/>
              <a:ea typeface="Calibri"/>
              <a:cs typeface="Calibri"/>
              <a:sym typeface="Calibri"/>
            </a:endParaRPr>
          </a:p>
        </p:txBody>
      </p:sp>
      <p:sp>
        <p:nvSpPr>
          <p:cNvPr id="68" name="Google Shape;68;p4"/>
          <p:cNvSpPr/>
          <p:nvPr/>
        </p:nvSpPr>
        <p:spPr>
          <a:xfrm>
            <a:off x="457200" y="73152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200"/>
              <a:buFont typeface="Calibri"/>
              <a:buNone/>
            </a:pPr>
            <a:r>
              <a:rPr b="1" lang="en-US" sz="1200">
                <a:solidFill>
                  <a:srgbClr val="333333"/>
                </a:solidFill>
                <a:latin typeface="Calibri"/>
                <a:ea typeface="Calibri"/>
                <a:cs typeface="Calibri"/>
                <a:sym typeface="Calibri"/>
              </a:rPr>
              <a:t>By the end of this session, MSLs will be able to:</a:t>
            </a:r>
            <a:endParaRPr sz="1200">
              <a:solidFill>
                <a:schemeClr val="dk1"/>
              </a:solidFill>
              <a:latin typeface="Calibri"/>
              <a:ea typeface="Calibri"/>
              <a:cs typeface="Calibri"/>
              <a:sym typeface="Calibri"/>
            </a:endParaRPr>
          </a:p>
        </p:txBody>
      </p:sp>
      <p:sp>
        <p:nvSpPr>
          <p:cNvPr id="69" name="Google Shape;69;p4"/>
          <p:cNvSpPr/>
          <p:nvPr/>
        </p:nvSpPr>
        <p:spPr>
          <a:xfrm>
            <a:off x="457200" y="1097280"/>
            <a:ext cx="274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020"/>
              </a:buClr>
              <a:buSzPts val="1100"/>
              <a:buFont typeface="Calibri"/>
              <a:buNone/>
            </a:pPr>
            <a:r>
              <a:rPr b="1" lang="en-US" sz="1100">
                <a:solidFill>
                  <a:srgbClr val="E07020"/>
                </a:solidFill>
                <a:latin typeface="Calibri"/>
                <a:ea typeface="Calibri"/>
                <a:cs typeface="Calibri"/>
                <a:sym typeface="Calibri"/>
              </a:rPr>
              <a:t>1.</a:t>
            </a:r>
            <a:endParaRPr sz="1100">
              <a:solidFill>
                <a:schemeClr val="dk1"/>
              </a:solidFill>
              <a:latin typeface="Calibri"/>
              <a:ea typeface="Calibri"/>
              <a:cs typeface="Calibri"/>
              <a:sym typeface="Calibri"/>
            </a:endParaRPr>
          </a:p>
        </p:txBody>
      </p:sp>
      <p:sp>
        <p:nvSpPr>
          <p:cNvPr id="70" name="Google Shape;70;p4"/>
          <p:cNvSpPr/>
          <p:nvPr/>
        </p:nvSpPr>
        <p:spPr>
          <a:xfrm>
            <a:off x="777240" y="1097280"/>
            <a:ext cx="7772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lang="en-US" sz="1100">
                <a:solidFill>
                  <a:srgbClr val="333333"/>
                </a:solidFill>
                <a:latin typeface="Calibri"/>
                <a:ea typeface="Calibri"/>
                <a:cs typeface="Calibri"/>
                <a:sym typeface="Calibri"/>
              </a:rPr>
              <a:t>Describe the current standard of care for 2L+ NSCLC and identify unmet needs</a:t>
            </a:r>
            <a:endParaRPr sz="1100">
              <a:solidFill>
                <a:schemeClr val="dk1"/>
              </a:solidFill>
              <a:latin typeface="Calibri"/>
              <a:ea typeface="Calibri"/>
              <a:cs typeface="Calibri"/>
              <a:sym typeface="Calibri"/>
            </a:endParaRPr>
          </a:p>
        </p:txBody>
      </p:sp>
      <p:sp>
        <p:nvSpPr>
          <p:cNvPr id="71" name="Google Shape;71;p4"/>
          <p:cNvSpPr/>
          <p:nvPr/>
        </p:nvSpPr>
        <p:spPr>
          <a:xfrm>
            <a:off x="457200" y="1554480"/>
            <a:ext cx="274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020"/>
              </a:buClr>
              <a:buSzPts val="1100"/>
              <a:buFont typeface="Calibri"/>
              <a:buNone/>
            </a:pPr>
            <a:r>
              <a:rPr b="1" lang="en-US" sz="1100">
                <a:solidFill>
                  <a:srgbClr val="E07020"/>
                </a:solidFill>
                <a:latin typeface="Calibri"/>
                <a:ea typeface="Calibri"/>
                <a:cs typeface="Calibri"/>
                <a:sym typeface="Calibri"/>
              </a:rPr>
              <a:t>2.</a:t>
            </a:r>
            <a:endParaRPr sz="1100">
              <a:solidFill>
                <a:schemeClr val="dk1"/>
              </a:solidFill>
              <a:latin typeface="Calibri"/>
              <a:ea typeface="Calibri"/>
              <a:cs typeface="Calibri"/>
              <a:sym typeface="Calibri"/>
            </a:endParaRPr>
          </a:p>
        </p:txBody>
      </p:sp>
      <p:sp>
        <p:nvSpPr>
          <p:cNvPr id="72" name="Google Shape;72;p4"/>
          <p:cNvSpPr/>
          <p:nvPr/>
        </p:nvSpPr>
        <p:spPr>
          <a:xfrm>
            <a:off x="777240" y="1554480"/>
            <a:ext cx="7772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lang="en-US" sz="1100">
                <a:solidFill>
                  <a:srgbClr val="333333"/>
                </a:solidFill>
                <a:latin typeface="Calibri"/>
                <a:ea typeface="Calibri"/>
                <a:cs typeface="Calibri"/>
                <a:sym typeface="Calibri"/>
              </a:rPr>
              <a:t>Summarize OVT-209 Phase II efficacy data including ORR, PFS, and DoR</a:t>
            </a:r>
            <a:endParaRPr sz="1100">
              <a:solidFill>
                <a:schemeClr val="dk1"/>
              </a:solidFill>
              <a:latin typeface="Calibri"/>
              <a:ea typeface="Calibri"/>
              <a:cs typeface="Calibri"/>
              <a:sym typeface="Calibri"/>
            </a:endParaRPr>
          </a:p>
        </p:txBody>
      </p:sp>
      <p:sp>
        <p:nvSpPr>
          <p:cNvPr id="73" name="Google Shape;73;p4"/>
          <p:cNvSpPr/>
          <p:nvPr/>
        </p:nvSpPr>
        <p:spPr>
          <a:xfrm>
            <a:off x="457200" y="2011680"/>
            <a:ext cx="274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020"/>
              </a:buClr>
              <a:buSzPts val="1100"/>
              <a:buFont typeface="Calibri"/>
              <a:buNone/>
            </a:pPr>
            <a:r>
              <a:rPr b="1" lang="en-US" sz="1100">
                <a:solidFill>
                  <a:srgbClr val="E07020"/>
                </a:solidFill>
                <a:latin typeface="Calibri"/>
                <a:ea typeface="Calibri"/>
                <a:cs typeface="Calibri"/>
                <a:sym typeface="Calibri"/>
              </a:rPr>
              <a:t>3.</a:t>
            </a:r>
            <a:endParaRPr sz="1100">
              <a:solidFill>
                <a:schemeClr val="dk1"/>
              </a:solidFill>
              <a:latin typeface="Calibri"/>
              <a:ea typeface="Calibri"/>
              <a:cs typeface="Calibri"/>
              <a:sym typeface="Calibri"/>
            </a:endParaRPr>
          </a:p>
        </p:txBody>
      </p:sp>
      <p:sp>
        <p:nvSpPr>
          <p:cNvPr id="74" name="Google Shape;74;p4"/>
          <p:cNvSpPr/>
          <p:nvPr/>
        </p:nvSpPr>
        <p:spPr>
          <a:xfrm>
            <a:off x="777240" y="2011680"/>
            <a:ext cx="7772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lang="en-US" sz="1100">
                <a:solidFill>
                  <a:srgbClr val="333333"/>
                </a:solidFill>
                <a:latin typeface="Calibri"/>
                <a:ea typeface="Calibri"/>
                <a:cs typeface="Calibri"/>
                <a:sym typeface="Calibri"/>
              </a:rPr>
              <a:t>Explain the OVT-209 safety profile with emphasis on ILD identification and management</a:t>
            </a:r>
            <a:endParaRPr sz="1100">
              <a:solidFill>
                <a:schemeClr val="dk1"/>
              </a:solidFill>
              <a:latin typeface="Calibri"/>
              <a:ea typeface="Calibri"/>
              <a:cs typeface="Calibri"/>
              <a:sym typeface="Calibri"/>
            </a:endParaRPr>
          </a:p>
        </p:txBody>
      </p:sp>
      <p:sp>
        <p:nvSpPr>
          <p:cNvPr id="75" name="Google Shape;75;p4"/>
          <p:cNvSpPr/>
          <p:nvPr/>
        </p:nvSpPr>
        <p:spPr>
          <a:xfrm>
            <a:off x="457200" y="2468880"/>
            <a:ext cx="274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020"/>
              </a:buClr>
              <a:buSzPts val="1100"/>
              <a:buFont typeface="Calibri"/>
              <a:buNone/>
            </a:pPr>
            <a:r>
              <a:rPr b="1" lang="en-US" sz="1100">
                <a:solidFill>
                  <a:srgbClr val="E07020"/>
                </a:solidFill>
                <a:latin typeface="Calibri"/>
                <a:ea typeface="Calibri"/>
                <a:cs typeface="Calibri"/>
                <a:sym typeface="Calibri"/>
              </a:rPr>
              <a:t>4.</a:t>
            </a:r>
            <a:endParaRPr sz="1100">
              <a:solidFill>
                <a:schemeClr val="dk1"/>
              </a:solidFill>
              <a:latin typeface="Calibri"/>
              <a:ea typeface="Calibri"/>
              <a:cs typeface="Calibri"/>
              <a:sym typeface="Calibri"/>
            </a:endParaRPr>
          </a:p>
        </p:txBody>
      </p:sp>
      <p:sp>
        <p:nvSpPr>
          <p:cNvPr id="76" name="Google Shape;76;p4"/>
          <p:cNvSpPr/>
          <p:nvPr/>
        </p:nvSpPr>
        <p:spPr>
          <a:xfrm>
            <a:off x="777240" y="2468880"/>
            <a:ext cx="7772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lang="en-US" sz="1100">
                <a:solidFill>
                  <a:srgbClr val="333333"/>
                </a:solidFill>
                <a:latin typeface="Calibri"/>
                <a:ea typeface="Calibri"/>
                <a:cs typeface="Calibri"/>
                <a:sym typeface="Calibri"/>
              </a:rPr>
              <a:t>Articulate key differentiators vs. competitor ADCs (Lunexorimab, Dato-DXd)</a:t>
            </a:r>
            <a:endParaRPr sz="1100">
              <a:solidFill>
                <a:schemeClr val="dk1"/>
              </a:solidFill>
              <a:latin typeface="Calibri"/>
              <a:ea typeface="Calibri"/>
              <a:cs typeface="Calibri"/>
              <a:sym typeface="Calibri"/>
            </a:endParaRPr>
          </a:p>
        </p:txBody>
      </p:sp>
      <p:sp>
        <p:nvSpPr>
          <p:cNvPr id="77" name="Google Shape;77;p4"/>
          <p:cNvSpPr/>
          <p:nvPr/>
        </p:nvSpPr>
        <p:spPr>
          <a:xfrm>
            <a:off x="457200" y="2926080"/>
            <a:ext cx="274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020"/>
              </a:buClr>
              <a:buSzPts val="1100"/>
              <a:buFont typeface="Calibri"/>
              <a:buNone/>
            </a:pPr>
            <a:r>
              <a:rPr b="1" lang="en-US" sz="1100">
                <a:solidFill>
                  <a:srgbClr val="E07020"/>
                </a:solidFill>
                <a:latin typeface="Calibri"/>
                <a:ea typeface="Calibri"/>
                <a:cs typeface="Calibri"/>
                <a:sym typeface="Calibri"/>
              </a:rPr>
              <a:t>5.</a:t>
            </a:r>
            <a:endParaRPr sz="1100">
              <a:solidFill>
                <a:schemeClr val="dk1"/>
              </a:solidFill>
              <a:latin typeface="Calibri"/>
              <a:ea typeface="Calibri"/>
              <a:cs typeface="Calibri"/>
              <a:sym typeface="Calibri"/>
            </a:endParaRPr>
          </a:p>
        </p:txBody>
      </p:sp>
      <p:sp>
        <p:nvSpPr>
          <p:cNvPr id="78" name="Google Shape;78;p4"/>
          <p:cNvSpPr/>
          <p:nvPr/>
        </p:nvSpPr>
        <p:spPr>
          <a:xfrm>
            <a:off x="777240" y="2926080"/>
            <a:ext cx="7772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lang="en-US" sz="1100">
                <a:solidFill>
                  <a:srgbClr val="333333"/>
                </a:solidFill>
                <a:latin typeface="Calibri"/>
                <a:ea typeface="Calibri"/>
                <a:cs typeface="Calibri"/>
                <a:sym typeface="Calibri"/>
              </a:rPr>
              <a:t>Apply competitive positioning frameworks during KOL scientific exchange</a:t>
            </a:r>
            <a:endParaRPr sz="1100">
              <a:solidFill>
                <a:schemeClr val="dk1"/>
              </a:solidFill>
              <a:latin typeface="Calibri"/>
              <a:ea typeface="Calibri"/>
              <a:cs typeface="Calibri"/>
              <a:sym typeface="Calibri"/>
            </a:endParaRPr>
          </a:p>
        </p:txBody>
      </p:sp>
      <p:sp>
        <p:nvSpPr>
          <p:cNvPr id="79" name="Google Shape;79;p4"/>
          <p:cNvSpPr/>
          <p:nvPr/>
        </p:nvSpPr>
        <p:spPr>
          <a:xfrm>
            <a:off x="457200" y="3383280"/>
            <a:ext cx="274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020"/>
              </a:buClr>
              <a:buSzPts val="1100"/>
              <a:buFont typeface="Calibri"/>
              <a:buNone/>
            </a:pPr>
            <a:r>
              <a:rPr b="1" lang="en-US" sz="1100">
                <a:solidFill>
                  <a:srgbClr val="E07020"/>
                </a:solidFill>
                <a:latin typeface="Calibri"/>
                <a:ea typeface="Calibri"/>
                <a:cs typeface="Calibri"/>
                <a:sym typeface="Calibri"/>
              </a:rPr>
              <a:t>6.</a:t>
            </a:r>
            <a:endParaRPr sz="1100">
              <a:solidFill>
                <a:schemeClr val="dk1"/>
              </a:solidFill>
              <a:latin typeface="Calibri"/>
              <a:ea typeface="Calibri"/>
              <a:cs typeface="Calibri"/>
              <a:sym typeface="Calibri"/>
            </a:endParaRPr>
          </a:p>
        </p:txBody>
      </p:sp>
      <p:sp>
        <p:nvSpPr>
          <p:cNvPr id="80" name="Google Shape;80;p4"/>
          <p:cNvSpPr/>
          <p:nvPr/>
        </p:nvSpPr>
        <p:spPr>
          <a:xfrm>
            <a:off x="777240" y="3383280"/>
            <a:ext cx="7772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lang="en-US" sz="1100">
                <a:solidFill>
                  <a:srgbClr val="333333"/>
                </a:solidFill>
                <a:latin typeface="Calibri"/>
                <a:ea typeface="Calibri"/>
                <a:cs typeface="Calibri"/>
                <a:sym typeface="Calibri"/>
              </a:rPr>
              <a:t>Identify common KOL objections and practice evidence-based responses</a:t>
            </a:r>
            <a:endParaRPr sz="1100">
              <a:solidFill>
                <a:schemeClr val="dk1"/>
              </a:solidFill>
              <a:latin typeface="Calibri"/>
              <a:ea typeface="Calibri"/>
              <a:cs typeface="Calibri"/>
              <a:sym typeface="Calibri"/>
            </a:endParaRPr>
          </a:p>
        </p:txBody>
      </p:sp>
      <p:sp>
        <p:nvSpPr>
          <p:cNvPr id="81" name="Google Shape;81;p4"/>
          <p:cNvSpPr/>
          <p:nvPr/>
        </p:nvSpPr>
        <p:spPr>
          <a:xfrm>
            <a:off x="457200" y="4114800"/>
            <a:ext cx="8229600" cy="548640"/>
          </a:xfrm>
          <a:prstGeom prst="rect">
            <a:avLst/>
          </a:prstGeom>
          <a:solidFill>
            <a:srgbClr val="F5F5F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4"/>
          <p:cNvSpPr/>
          <p:nvPr/>
        </p:nvSpPr>
        <p:spPr>
          <a:xfrm>
            <a:off x="548640" y="4206240"/>
            <a:ext cx="8046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000"/>
              <a:buFont typeface="Calibri"/>
              <a:buNone/>
            </a:pPr>
            <a:r>
              <a:rPr lang="en-US" sz="1000">
                <a:solidFill>
                  <a:srgbClr val="333333"/>
                </a:solidFill>
                <a:latin typeface="Calibri"/>
                <a:ea typeface="Calibri"/>
                <a:cs typeface="Calibri"/>
                <a:sym typeface="Calibri"/>
              </a:rPr>
              <a:t>Assessment: Post-session quiz (80% pass rate required) + role-play evaluation with regional director</a:t>
            </a:r>
            <a:endParaRPr sz="1000">
              <a:solidFill>
                <a:schemeClr val="dk1"/>
              </a:solidFill>
              <a:latin typeface="Calibri"/>
              <a:ea typeface="Calibri"/>
              <a:cs typeface="Calibri"/>
              <a:sym typeface="Calibri"/>
            </a:endParaRPr>
          </a:p>
        </p:txBody>
      </p:sp>
      <p:sp>
        <p:nvSpPr>
          <p:cNvPr id="83" name="Google Shape;83;p4"/>
          <p:cNvSpPr/>
          <p:nvPr/>
        </p:nvSpPr>
        <p:spPr>
          <a:xfrm>
            <a:off x="457200" y="4709160"/>
            <a:ext cx="64008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800"/>
              <a:buFont typeface="Calibri"/>
              <a:buNone/>
            </a:pPr>
            <a:r>
              <a:rPr lang="en-US" sz="800">
                <a:solidFill>
                  <a:srgbClr val="666666"/>
                </a:solidFill>
                <a:latin typeface="Calibri"/>
                <a:ea typeface="Calibri"/>
                <a:cs typeface="Calibri"/>
                <a:sym typeface="Calibri"/>
              </a:rPr>
              <a:t>OVT-209 MSL Training Series | Session 3 | April 2025</a:t>
            </a:r>
            <a:endParaRPr sz="800">
              <a:solidFill>
                <a:schemeClr val="dk1"/>
              </a:solidFill>
              <a:latin typeface="Calibri"/>
              <a:ea typeface="Calibri"/>
              <a:cs typeface="Calibri"/>
              <a:sym typeface="Calibri"/>
            </a:endParaRPr>
          </a:p>
        </p:txBody>
      </p:sp>
      <p:sp>
        <p:nvSpPr>
          <p:cNvPr id="84" name="Google Shape;84;p4"/>
          <p:cNvSpPr/>
          <p:nvPr/>
        </p:nvSpPr>
        <p:spPr>
          <a:xfrm>
            <a:off x="7772400" y="4709160"/>
            <a:ext cx="9144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C0000"/>
              </a:buClr>
              <a:buSzPts val="800"/>
              <a:buFont typeface="Calibri"/>
              <a:buNone/>
            </a:pPr>
            <a:r>
              <a:rPr b="1" lang="en-US" sz="800">
                <a:solidFill>
                  <a:srgbClr val="CC0000"/>
                </a:solidFill>
                <a:latin typeface="Calibri"/>
                <a:ea typeface="Calibri"/>
                <a:cs typeface="Calibri"/>
                <a:sym typeface="Calibri"/>
              </a:rPr>
              <a:t>INTERNAL</a:t>
            </a:r>
            <a:endParaRPr sz="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5"/>
          <p:cNvSpPr/>
          <p:nvPr/>
        </p:nvSpPr>
        <p:spPr>
          <a:xfrm>
            <a:off x="0" y="0"/>
            <a:ext cx="9144000" cy="548640"/>
          </a:xfrm>
          <a:prstGeom prst="rect">
            <a:avLst/>
          </a:prstGeom>
          <a:solidFill>
            <a:srgbClr val="1A3A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5"/>
          <p:cNvSpPr/>
          <p:nvPr/>
        </p:nvSpPr>
        <p:spPr>
          <a:xfrm>
            <a:off x="457200" y="1371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OVT-209-201 Phase II: Key Efficacy Results</a:t>
            </a:r>
            <a:endParaRPr sz="1600">
              <a:solidFill>
                <a:schemeClr val="dk1"/>
              </a:solidFill>
              <a:latin typeface="Calibri"/>
              <a:ea typeface="Calibri"/>
              <a:cs typeface="Calibri"/>
              <a:sym typeface="Calibri"/>
            </a:endParaRPr>
          </a:p>
        </p:txBody>
      </p:sp>
      <p:sp>
        <p:nvSpPr>
          <p:cNvPr id="92" name="Google Shape;92;p5"/>
          <p:cNvSpPr/>
          <p:nvPr/>
        </p:nvSpPr>
        <p:spPr>
          <a:xfrm>
            <a:off x="457200" y="685800"/>
            <a:ext cx="8229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1000"/>
              <a:buFont typeface="Calibri"/>
              <a:buNone/>
            </a:pPr>
            <a:r>
              <a:rPr lang="en-US" sz="1000">
                <a:solidFill>
                  <a:srgbClr val="666666"/>
                </a:solidFill>
                <a:latin typeface="Calibri"/>
                <a:ea typeface="Calibri"/>
                <a:cs typeface="Calibri"/>
                <a:sym typeface="Calibri"/>
              </a:rPr>
              <a:t>Study Population: 2L+ NSCLC after IO-containing regimen (N=186)</a:t>
            </a:r>
            <a:endParaRPr sz="1000">
              <a:solidFill>
                <a:schemeClr val="dk1"/>
              </a:solidFill>
              <a:latin typeface="Calibri"/>
              <a:ea typeface="Calibri"/>
              <a:cs typeface="Calibri"/>
              <a:sym typeface="Calibri"/>
            </a:endParaRPr>
          </a:p>
        </p:txBody>
      </p:sp>
      <p:sp>
        <p:nvSpPr>
          <p:cNvPr id="93" name="Google Shape;93;p5"/>
          <p:cNvSpPr/>
          <p:nvPr/>
        </p:nvSpPr>
        <p:spPr>
          <a:xfrm>
            <a:off x="457200" y="1005840"/>
            <a:ext cx="2560320" cy="1188720"/>
          </a:xfrm>
          <a:prstGeom prst="rect">
            <a:avLst/>
          </a:prstGeom>
          <a:solidFill>
            <a:srgbClr val="E3F2FD"/>
          </a:solidFill>
          <a:ln cap="flat" cmpd="sng" w="12700">
            <a:solidFill>
              <a:srgbClr val="1A3A5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5"/>
          <p:cNvSpPr/>
          <p:nvPr/>
        </p:nvSpPr>
        <p:spPr>
          <a:xfrm>
            <a:off x="457200" y="1051560"/>
            <a:ext cx="256032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3A5C"/>
              </a:buClr>
              <a:buSzPts val="1000"/>
              <a:buFont typeface="Calibri"/>
              <a:buNone/>
            </a:pPr>
            <a:r>
              <a:rPr b="1" lang="en-US" sz="1000">
                <a:solidFill>
                  <a:srgbClr val="1A3A5C"/>
                </a:solidFill>
                <a:latin typeface="Calibri"/>
                <a:ea typeface="Calibri"/>
                <a:cs typeface="Calibri"/>
                <a:sym typeface="Calibri"/>
              </a:rPr>
              <a:t>ORR (BICR)</a:t>
            </a:r>
            <a:endParaRPr sz="1000">
              <a:solidFill>
                <a:schemeClr val="dk1"/>
              </a:solidFill>
              <a:latin typeface="Calibri"/>
              <a:ea typeface="Calibri"/>
              <a:cs typeface="Calibri"/>
              <a:sym typeface="Calibri"/>
            </a:endParaRPr>
          </a:p>
        </p:txBody>
      </p:sp>
      <p:sp>
        <p:nvSpPr>
          <p:cNvPr id="95" name="Google Shape;95;p5"/>
          <p:cNvSpPr/>
          <p:nvPr/>
        </p:nvSpPr>
        <p:spPr>
          <a:xfrm>
            <a:off x="457200" y="1325880"/>
            <a:ext cx="25603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3A5C"/>
              </a:buClr>
              <a:buSzPts val="3600"/>
              <a:buFont typeface="Calibri"/>
              <a:buNone/>
            </a:pPr>
            <a:r>
              <a:rPr b="1" lang="en-US" sz="3600">
                <a:solidFill>
                  <a:srgbClr val="1A3A5C"/>
                </a:solidFill>
                <a:latin typeface="Calibri"/>
                <a:ea typeface="Calibri"/>
                <a:cs typeface="Calibri"/>
                <a:sym typeface="Calibri"/>
              </a:rPr>
              <a:t>47%</a:t>
            </a:r>
            <a:endParaRPr sz="3600">
              <a:solidFill>
                <a:schemeClr val="dk1"/>
              </a:solidFill>
              <a:latin typeface="Calibri"/>
              <a:ea typeface="Calibri"/>
              <a:cs typeface="Calibri"/>
              <a:sym typeface="Calibri"/>
            </a:endParaRPr>
          </a:p>
        </p:txBody>
      </p:sp>
      <p:sp>
        <p:nvSpPr>
          <p:cNvPr id="96" name="Google Shape;96;p5"/>
          <p:cNvSpPr/>
          <p:nvPr/>
        </p:nvSpPr>
        <p:spPr>
          <a:xfrm>
            <a:off x="457200" y="1828800"/>
            <a:ext cx="256032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66666"/>
              </a:buClr>
              <a:buSzPts val="900"/>
              <a:buFont typeface="Calibri"/>
              <a:buNone/>
            </a:pPr>
            <a:r>
              <a:rPr lang="en-US" sz="900">
                <a:solidFill>
                  <a:srgbClr val="666666"/>
                </a:solidFill>
                <a:latin typeface="Calibri"/>
                <a:ea typeface="Calibri"/>
                <a:cs typeface="Calibri"/>
                <a:sym typeface="Calibri"/>
              </a:rPr>
              <a:t>(95% CI: 40-54%)</a:t>
            </a:r>
            <a:endParaRPr sz="900">
              <a:solidFill>
                <a:schemeClr val="dk1"/>
              </a:solidFill>
              <a:latin typeface="Calibri"/>
              <a:ea typeface="Calibri"/>
              <a:cs typeface="Calibri"/>
              <a:sym typeface="Calibri"/>
            </a:endParaRPr>
          </a:p>
        </p:txBody>
      </p:sp>
      <p:sp>
        <p:nvSpPr>
          <p:cNvPr id="97" name="Google Shape;97;p5"/>
          <p:cNvSpPr/>
          <p:nvPr/>
        </p:nvSpPr>
        <p:spPr>
          <a:xfrm>
            <a:off x="3200400" y="1005840"/>
            <a:ext cx="2560320" cy="1188720"/>
          </a:xfrm>
          <a:prstGeom prst="rect">
            <a:avLst/>
          </a:prstGeom>
          <a:solidFill>
            <a:srgbClr val="E8F5E9"/>
          </a:solidFill>
          <a:ln cap="flat" cmpd="sng" w="12700">
            <a:solidFill>
              <a:srgbClr val="2E8B5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5"/>
          <p:cNvSpPr/>
          <p:nvPr/>
        </p:nvSpPr>
        <p:spPr>
          <a:xfrm>
            <a:off x="3200400" y="1051560"/>
            <a:ext cx="256032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8B57"/>
              </a:buClr>
              <a:buSzPts val="1000"/>
              <a:buFont typeface="Calibri"/>
              <a:buNone/>
            </a:pPr>
            <a:r>
              <a:rPr b="1" lang="en-US" sz="1000">
                <a:solidFill>
                  <a:srgbClr val="2E8B57"/>
                </a:solidFill>
                <a:latin typeface="Calibri"/>
                <a:ea typeface="Calibri"/>
                <a:cs typeface="Calibri"/>
                <a:sym typeface="Calibri"/>
              </a:rPr>
              <a:t>Median PFS</a:t>
            </a:r>
            <a:endParaRPr sz="1000">
              <a:solidFill>
                <a:schemeClr val="dk1"/>
              </a:solidFill>
              <a:latin typeface="Calibri"/>
              <a:ea typeface="Calibri"/>
              <a:cs typeface="Calibri"/>
              <a:sym typeface="Calibri"/>
            </a:endParaRPr>
          </a:p>
        </p:txBody>
      </p:sp>
      <p:sp>
        <p:nvSpPr>
          <p:cNvPr id="99" name="Google Shape;99;p5"/>
          <p:cNvSpPr/>
          <p:nvPr/>
        </p:nvSpPr>
        <p:spPr>
          <a:xfrm>
            <a:off x="3200400" y="1325880"/>
            <a:ext cx="25603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8B57"/>
              </a:buClr>
              <a:buSzPts val="3600"/>
              <a:buFont typeface="Calibri"/>
              <a:buNone/>
            </a:pPr>
            <a:r>
              <a:rPr b="1" lang="en-US" sz="3600">
                <a:solidFill>
                  <a:srgbClr val="2E8B57"/>
                </a:solidFill>
                <a:latin typeface="Calibri"/>
                <a:ea typeface="Calibri"/>
                <a:cs typeface="Calibri"/>
                <a:sym typeface="Calibri"/>
              </a:rPr>
              <a:t>7.2 mo</a:t>
            </a:r>
            <a:endParaRPr sz="3600">
              <a:solidFill>
                <a:schemeClr val="dk1"/>
              </a:solidFill>
              <a:latin typeface="Calibri"/>
              <a:ea typeface="Calibri"/>
              <a:cs typeface="Calibri"/>
              <a:sym typeface="Calibri"/>
            </a:endParaRPr>
          </a:p>
        </p:txBody>
      </p:sp>
      <p:sp>
        <p:nvSpPr>
          <p:cNvPr id="100" name="Google Shape;100;p5"/>
          <p:cNvSpPr/>
          <p:nvPr/>
        </p:nvSpPr>
        <p:spPr>
          <a:xfrm>
            <a:off x="3200400" y="1828800"/>
            <a:ext cx="256032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66666"/>
              </a:buClr>
              <a:buSzPts val="900"/>
              <a:buFont typeface="Calibri"/>
              <a:buNone/>
            </a:pPr>
            <a:r>
              <a:rPr lang="en-US" sz="900">
                <a:solidFill>
                  <a:srgbClr val="666666"/>
                </a:solidFill>
                <a:latin typeface="Calibri"/>
                <a:ea typeface="Calibri"/>
                <a:cs typeface="Calibri"/>
                <a:sym typeface="Calibri"/>
              </a:rPr>
              <a:t>(95% CI: 5.8-8.9)</a:t>
            </a:r>
            <a:endParaRPr sz="900">
              <a:solidFill>
                <a:schemeClr val="dk1"/>
              </a:solidFill>
              <a:latin typeface="Calibri"/>
              <a:ea typeface="Calibri"/>
              <a:cs typeface="Calibri"/>
              <a:sym typeface="Calibri"/>
            </a:endParaRPr>
          </a:p>
        </p:txBody>
      </p:sp>
      <p:sp>
        <p:nvSpPr>
          <p:cNvPr id="101" name="Google Shape;101;p5"/>
          <p:cNvSpPr/>
          <p:nvPr/>
        </p:nvSpPr>
        <p:spPr>
          <a:xfrm>
            <a:off x="5943600" y="1005840"/>
            <a:ext cx="2560320" cy="1188720"/>
          </a:xfrm>
          <a:prstGeom prst="rect">
            <a:avLst/>
          </a:prstGeom>
          <a:solidFill>
            <a:srgbClr val="FFF3E0"/>
          </a:solidFill>
          <a:ln cap="flat" cmpd="sng" w="12700">
            <a:solidFill>
              <a:srgbClr val="E070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5"/>
          <p:cNvSpPr/>
          <p:nvPr/>
        </p:nvSpPr>
        <p:spPr>
          <a:xfrm>
            <a:off x="5943600" y="1051560"/>
            <a:ext cx="256032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020"/>
              </a:buClr>
              <a:buSzPts val="1000"/>
              <a:buFont typeface="Calibri"/>
              <a:buNone/>
            </a:pPr>
            <a:r>
              <a:rPr b="1" lang="en-US" sz="1000">
                <a:solidFill>
                  <a:srgbClr val="E07020"/>
                </a:solidFill>
                <a:latin typeface="Calibri"/>
                <a:ea typeface="Calibri"/>
                <a:cs typeface="Calibri"/>
                <a:sym typeface="Calibri"/>
              </a:rPr>
              <a:t>Median DoR</a:t>
            </a:r>
            <a:endParaRPr sz="1000">
              <a:solidFill>
                <a:schemeClr val="dk1"/>
              </a:solidFill>
              <a:latin typeface="Calibri"/>
              <a:ea typeface="Calibri"/>
              <a:cs typeface="Calibri"/>
              <a:sym typeface="Calibri"/>
            </a:endParaRPr>
          </a:p>
        </p:txBody>
      </p:sp>
      <p:sp>
        <p:nvSpPr>
          <p:cNvPr id="103" name="Google Shape;103;p5"/>
          <p:cNvSpPr/>
          <p:nvPr/>
        </p:nvSpPr>
        <p:spPr>
          <a:xfrm>
            <a:off x="5943600" y="1325880"/>
            <a:ext cx="25603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020"/>
              </a:buClr>
              <a:buSzPts val="3600"/>
              <a:buFont typeface="Calibri"/>
              <a:buNone/>
            </a:pPr>
            <a:r>
              <a:rPr b="1" lang="en-US" sz="3600">
                <a:solidFill>
                  <a:srgbClr val="E07020"/>
                </a:solidFill>
                <a:latin typeface="Calibri"/>
                <a:ea typeface="Calibri"/>
                <a:cs typeface="Calibri"/>
                <a:sym typeface="Calibri"/>
              </a:rPr>
              <a:t>8.3 mo</a:t>
            </a:r>
            <a:endParaRPr sz="3600">
              <a:solidFill>
                <a:schemeClr val="dk1"/>
              </a:solidFill>
              <a:latin typeface="Calibri"/>
              <a:ea typeface="Calibri"/>
              <a:cs typeface="Calibri"/>
              <a:sym typeface="Calibri"/>
            </a:endParaRPr>
          </a:p>
        </p:txBody>
      </p:sp>
      <p:sp>
        <p:nvSpPr>
          <p:cNvPr id="104" name="Google Shape;104;p5"/>
          <p:cNvSpPr/>
          <p:nvPr/>
        </p:nvSpPr>
        <p:spPr>
          <a:xfrm>
            <a:off x="5943600" y="1828800"/>
            <a:ext cx="256032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66666"/>
              </a:buClr>
              <a:buSzPts val="900"/>
              <a:buFont typeface="Calibri"/>
              <a:buNone/>
            </a:pPr>
            <a:r>
              <a:rPr lang="en-US" sz="900">
                <a:solidFill>
                  <a:srgbClr val="666666"/>
                </a:solidFill>
                <a:latin typeface="Calibri"/>
                <a:ea typeface="Calibri"/>
                <a:cs typeface="Calibri"/>
                <a:sym typeface="Calibri"/>
              </a:rPr>
              <a:t>(95% CI: 6.4-10.1)</a:t>
            </a:r>
            <a:endParaRPr sz="900">
              <a:solidFill>
                <a:schemeClr val="dk1"/>
              </a:solidFill>
              <a:latin typeface="Calibri"/>
              <a:ea typeface="Calibri"/>
              <a:cs typeface="Calibri"/>
              <a:sym typeface="Calibri"/>
            </a:endParaRPr>
          </a:p>
        </p:txBody>
      </p:sp>
      <p:sp>
        <p:nvSpPr>
          <p:cNvPr id="105" name="Google Shape;105;p5"/>
          <p:cNvSpPr/>
          <p:nvPr/>
        </p:nvSpPr>
        <p:spPr>
          <a:xfrm>
            <a:off x="457200" y="2377440"/>
            <a:ext cx="8229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000"/>
              <a:buFont typeface="Calibri"/>
              <a:buNone/>
            </a:pPr>
            <a:r>
              <a:rPr b="1" lang="en-US" sz="1000">
                <a:solidFill>
                  <a:srgbClr val="333333"/>
                </a:solidFill>
                <a:latin typeface="Calibri"/>
                <a:ea typeface="Calibri"/>
                <a:cs typeface="Calibri"/>
                <a:sym typeface="Calibri"/>
              </a:rPr>
              <a:t>Historical Benchmark: Docetaxel monotherapy</a:t>
            </a:r>
            <a:endParaRPr sz="1000">
              <a:solidFill>
                <a:schemeClr val="dk1"/>
              </a:solidFill>
              <a:latin typeface="Calibri"/>
              <a:ea typeface="Calibri"/>
              <a:cs typeface="Calibri"/>
              <a:sym typeface="Calibri"/>
            </a:endParaRPr>
          </a:p>
        </p:txBody>
      </p:sp>
      <p:sp>
        <p:nvSpPr>
          <p:cNvPr id="106" name="Google Shape;106;p5"/>
          <p:cNvSpPr/>
          <p:nvPr/>
        </p:nvSpPr>
        <p:spPr>
          <a:xfrm>
            <a:off x="457200" y="2606040"/>
            <a:ext cx="8229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1000"/>
              <a:buFont typeface="Calibri"/>
              <a:buNone/>
            </a:pPr>
            <a:r>
              <a:rPr lang="en-US" sz="1000">
                <a:solidFill>
                  <a:srgbClr val="666666"/>
                </a:solidFill>
                <a:latin typeface="Calibri"/>
                <a:ea typeface="Calibri"/>
                <a:cs typeface="Calibri"/>
                <a:sym typeface="Calibri"/>
              </a:rPr>
              <a:t>ORR: ~15% | Median PFS: ~4.0 months | Median OS: ~7.5 months</a:t>
            </a:r>
            <a:endParaRPr sz="1000">
              <a:solidFill>
                <a:schemeClr val="dk1"/>
              </a:solidFill>
              <a:latin typeface="Calibri"/>
              <a:ea typeface="Calibri"/>
              <a:cs typeface="Calibri"/>
              <a:sym typeface="Calibri"/>
            </a:endParaRPr>
          </a:p>
        </p:txBody>
      </p:sp>
      <p:sp>
        <p:nvSpPr>
          <p:cNvPr id="107" name="Google Shape;107;p5"/>
          <p:cNvSpPr/>
          <p:nvPr/>
        </p:nvSpPr>
        <p:spPr>
          <a:xfrm>
            <a:off x="457200" y="2926080"/>
            <a:ext cx="8229600" cy="1371600"/>
          </a:xfrm>
          <a:prstGeom prst="rect">
            <a:avLst/>
          </a:prstGeom>
          <a:solidFill>
            <a:srgbClr val="F5F5F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5"/>
          <p:cNvSpPr/>
          <p:nvPr/>
        </p:nvSpPr>
        <p:spPr>
          <a:xfrm>
            <a:off x="548640" y="3017520"/>
            <a:ext cx="804672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000"/>
              <a:buFont typeface="Calibri"/>
              <a:buNone/>
            </a:pPr>
            <a:r>
              <a:rPr b="1" lang="en-US" sz="1000">
                <a:solidFill>
                  <a:srgbClr val="1A3A5C"/>
                </a:solidFill>
                <a:latin typeface="Calibri"/>
                <a:ea typeface="Calibri"/>
                <a:cs typeface="Calibri"/>
                <a:sym typeface="Calibri"/>
              </a:rPr>
              <a:t>KEY MESSAGES FOR KOL DISCUSSIONS:</a:t>
            </a:r>
            <a:endParaRPr sz="1000">
              <a:solidFill>
                <a:schemeClr val="dk1"/>
              </a:solidFill>
              <a:latin typeface="Calibri"/>
              <a:ea typeface="Calibri"/>
              <a:cs typeface="Calibri"/>
              <a:sym typeface="Calibri"/>
            </a:endParaRPr>
          </a:p>
        </p:txBody>
      </p:sp>
      <p:sp>
        <p:nvSpPr>
          <p:cNvPr id="109" name="Google Shape;109;p5"/>
          <p:cNvSpPr/>
          <p:nvPr/>
        </p:nvSpPr>
        <p:spPr>
          <a:xfrm>
            <a:off x="548640" y="3291840"/>
            <a:ext cx="804672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000"/>
              <a:buFont typeface="Calibri"/>
              <a:buNone/>
            </a:pPr>
            <a:r>
              <a:rPr lang="en-US" sz="1000">
                <a:solidFill>
                  <a:srgbClr val="333333"/>
                </a:solidFill>
                <a:latin typeface="Calibri"/>
                <a:ea typeface="Calibri"/>
                <a:cs typeface="Calibri"/>
                <a:sym typeface="Calibri"/>
              </a:rPr>
              <a:t>• ORR nearly 3x historical docetaxel benchmark</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000"/>
              <a:buFont typeface="Calibri"/>
              <a:buNone/>
            </a:pPr>
            <a:r>
              <a:rPr lang="en-US" sz="1000">
                <a:solidFill>
                  <a:srgbClr val="333333"/>
                </a:solidFill>
                <a:latin typeface="Calibri"/>
                <a:ea typeface="Calibri"/>
                <a:cs typeface="Calibri"/>
                <a:sym typeface="Calibri"/>
              </a:rPr>
              <a:t>• PFS improvement of ~3 months vs. historical control</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000"/>
              <a:buFont typeface="Calibri"/>
              <a:buNone/>
            </a:pPr>
            <a:r>
              <a:rPr lang="en-US" sz="1000">
                <a:solidFill>
                  <a:srgbClr val="333333"/>
                </a:solidFill>
                <a:latin typeface="Calibri"/>
                <a:ea typeface="Calibri"/>
                <a:cs typeface="Calibri"/>
                <a:sym typeface="Calibri"/>
              </a:rPr>
              <a:t>• Responses observed across PD-L1 subgroups (including PD-L1 &lt;1%)</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000"/>
              <a:buFont typeface="Calibri"/>
              <a:buNone/>
            </a:pPr>
            <a:r>
              <a:rPr lang="en-US" sz="1000">
                <a:solidFill>
                  <a:srgbClr val="333333"/>
                </a:solidFill>
                <a:latin typeface="Calibri"/>
                <a:ea typeface="Calibri"/>
                <a:cs typeface="Calibri"/>
                <a:sym typeface="Calibri"/>
              </a:rPr>
              <a:t>• Consistent benefit in Asian and non-Asian subgroups</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000"/>
              <a:buFont typeface="Calibri"/>
              <a:buNone/>
            </a:pPr>
            <a:r>
              <a:rPr lang="en-US" sz="1000">
                <a:solidFill>
                  <a:srgbClr val="333333"/>
                </a:solidFill>
                <a:latin typeface="Calibri"/>
                <a:ea typeface="Calibri"/>
                <a:cs typeface="Calibri"/>
                <a:sym typeface="Calibri"/>
              </a:rPr>
              <a:t>• Data supports further development in registrational Phase III</a:t>
            </a:r>
            <a:endParaRPr sz="1000">
              <a:solidFill>
                <a:schemeClr val="dk1"/>
              </a:solidFill>
              <a:latin typeface="Calibri"/>
              <a:ea typeface="Calibri"/>
              <a:cs typeface="Calibri"/>
              <a:sym typeface="Calibri"/>
            </a:endParaRPr>
          </a:p>
        </p:txBody>
      </p:sp>
      <p:sp>
        <p:nvSpPr>
          <p:cNvPr id="110" name="Google Shape;110;p5"/>
          <p:cNvSpPr/>
          <p:nvPr/>
        </p:nvSpPr>
        <p:spPr>
          <a:xfrm>
            <a:off x="457200" y="4709160"/>
            <a:ext cx="64008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800"/>
              <a:buFont typeface="Calibri"/>
              <a:buNone/>
            </a:pPr>
            <a:r>
              <a:rPr lang="en-US" sz="800">
                <a:solidFill>
                  <a:srgbClr val="666666"/>
                </a:solidFill>
                <a:latin typeface="Calibri"/>
                <a:ea typeface="Calibri"/>
                <a:cs typeface="Calibri"/>
                <a:sym typeface="Calibri"/>
              </a:rPr>
              <a:t>OVT-209 MSL Training Series | Session 3 | April 2025</a:t>
            </a:r>
            <a:endParaRPr sz="800">
              <a:solidFill>
                <a:schemeClr val="dk1"/>
              </a:solidFill>
              <a:latin typeface="Calibri"/>
              <a:ea typeface="Calibri"/>
              <a:cs typeface="Calibri"/>
              <a:sym typeface="Calibri"/>
            </a:endParaRPr>
          </a:p>
        </p:txBody>
      </p:sp>
      <p:sp>
        <p:nvSpPr>
          <p:cNvPr id="111" name="Google Shape;111;p5"/>
          <p:cNvSpPr/>
          <p:nvPr/>
        </p:nvSpPr>
        <p:spPr>
          <a:xfrm>
            <a:off x="7772400" y="4709160"/>
            <a:ext cx="9144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C0000"/>
              </a:buClr>
              <a:buSzPts val="800"/>
              <a:buFont typeface="Calibri"/>
              <a:buNone/>
            </a:pPr>
            <a:r>
              <a:rPr b="1" lang="en-US" sz="800">
                <a:solidFill>
                  <a:srgbClr val="CC0000"/>
                </a:solidFill>
                <a:latin typeface="Calibri"/>
                <a:ea typeface="Calibri"/>
                <a:cs typeface="Calibri"/>
                <a:sym typeface="Calibri"/>
              </a:rPr>
              <a:t>INTERNAL</a:t>
            </a:r>
            <a:endParaRPr sz="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p:nvPr/>
        </p:nvSpPr>
        <p:spPr>
          <a:xfrm>
            <a:off x="0" y="0"/>
            <a:ext cx="9144000" cy="548640"/>
          </a:xfrm>
          <a:prstGeom prst="rect">
            <a:avLst/>
          </a:prstGeom>
          <a:solidFill>
            <a:srgbClr val="1A3A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6"/>
          <p:cNvSpPr/>
          <p:nvPr/>
        </p:nvSpPr>
        <p:spPr>
          <a:xfrm>
            <a:off x="457200" y="1371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OVT-209 Safety Profile Overview</a:t>
            </a:r>
            <a:endParaRPr sz="1600">
              <a:solidFill>
                <a:schemeClr val="dk1"/>
              </a:solidFill>
              <a:latin typeface="Calibri"/>
              <a:ea typeface="Calibri"/>
              <a:cs typeface="Calibri"/>
              <a:sym typeface="Calibri"/>
            </a:endParaRPr>
          </a:p>
        </p:txBody>
      </p:sp>
      <p:graphicFrame>
        <p:nvGraphicFramePr>
          <p:cNvPr id="119" name="Google Shape;119;p6"/>
          <p:cNvGraphicFramePr/>
          <p:nvPr/>
        </p:nvGraphicFramePr>
        <p:xfrm>
          <a:off x="457200" y="731520"/>
          <a:ext cx="3000000" cy="3000000"/>
        </p:xfrm>
        <a:graphic>
          <a:graphicData uri="http://schemas.openxmlformats.org/drawingml/2006/table">
            <a:tbl>
              <a:tblPr>
                <a:noFill/>
                <a:tableStyleId>{623D5A9C-6987-402F-99EB-95BBD4E443FB}</a:tableStyleId>
              </a:tblPr>
              <a:tblGrid>
                <a:gridCol w="2286000"/>
                <a:gridCol w="1143000"/>
                <a:gridCol w="1143000"/>
              </a:tblGrid>
              <a:tr h="285750">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Adverse Event</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A3A5C"/>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Any Grade</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A3A5C"/>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Grade 3+</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A3A5C"/>
                    </a:solidFill>
                  </a:tcPr>
                </a:tc>
              </a:tr>
              <a:tr h="28575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Nausea</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62%</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4%</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575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Fatigue</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48%</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6%</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575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Decreased appetite</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35%</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2%</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575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Alopecia</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31%</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&lt;1%</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575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Diarrhea</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28%</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3%</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5750">
                <a:tc>
                  <a:txBody>
                    <a:bodyPr/>
                    <a:lstStyle/>
                    <a:p>
                      <a:pPr indent="0" lvl="0" marL="0" marR="0" rtl="0" algn="l">
                        <a:spcBef>
                          <a:spcPts val="0"/>
                        </a:spcBef>
                        <a:spcAft>
                          <a:spcPts val="0"/>
                        </a:spcAft>
                        <a:buClr>
                          <a:srgbClr val="CC0000"/>
                        </a:buClr>
                        <a:buSzPts val="1000"/>
                        <a:buFont typeface="Calibri"/>
                        <a:buNone/>
                      </a:pPr>
                      <a:r>
                        <a:rPr b="1" lang="en-US" sz="1000" u="none" cap="none" strike="noStrike">
                          <a:solidFill>
                            <a:srgbClr val="CC0000"/>
                          </a:solidFill>
                        </a:rPr>
                        <a:t>ILD/Pneumonitis</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12%</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CC0000"/>
                        </a:buClr>
                        <a:buSzPts val="1000"/>
                        <a:buFont typeface="Calibri"/>
                        <a:buNone/>
                      </a:pPr>
                      <a:r>
                        <a:rPr b="1" lang="en-US" sz="1000" u="none" cap="none" strike="noStrike">
                          <a:solidFill>
                            <a:srgbClr val="CC0000"/>
                          </a:solidFill>
                        </a:rPr>
                        <a:t>4%</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575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Infusion-related reaction</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8%</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1%</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20" name="Google Shape;120;p6"/>
          <p:cNvSpPr/>
          <p:nvPr/>
        </p:nvSpPr>
        <p:spPr>
          <a:xfrm>
            <a:off x="5212080" y="731520"/>
            <a:ext cx="3474720" cy="2286000"/>
          </a:xfrm>
          <a:prstGeom prst="rect">
            <a:avLst/>
          </a:prstGeom>
          <a:solidFill>
            <a:srgbClr val="FFEBEE"/>
          </a:solidFill>
          <a:ln cap="flat" cmpd="sng" w="12700">
            <a:solidFill>
              <a:srgbClr val="CC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6"/>
          <p:cNvSpPr/>
          <p:nvPr/>
        </p:nvSpPr>
        <p:spPr>
          <a:xfrm>
            <a:off x="5303520" y="82296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C0000"/>
              </a:buClr>
              <a:buSzPts val="1100"/>
              <a:buFont typeface="Calibri"/>
              <a:buNone/>
            </a:pPr>
            <a:r>
              <a:rPr b="1" lang="en-US" sz="1100">
                <a:solidFill>
                  <a:srgbClr val="CC0000"/>
                </a:solidFill>
                <a:latin typeface="Calibri"/>
                <a:ea typeface="Calibri"/>
                <a:cs typeface="Calibri"/>
                <a:sym typeface="Calibri"/>
              </a:rPr>
              <a:t>⚠️ ILD FOCUS</a:t>
            </a:r>
            <a:endParaRPr sz="1100">
              <a:solidFill>
                <a:schemeClr val="dk1"/>
              </a:solidFill>
              <a:latin typeface="Calibri"/>
              <a:ea typeface="Calibri"/>
              <a:cs typeface="Calibri"/>
              <a:sym typeface="Calibri"/>
            </a:endParaRPr>
          </a:p>
        </p:txBody>
      </p:sp>
      <p:sp>
        <p:nvSpPr>
          <p:cNvPr id="122" name="Google Shape;122;p6"/>
          <p:cNvSpPr/>
          <p:nvPr/>
        </p:nvSpPr>
        <p:spPr>
          <a:xfrm>
            <a:off x="5303520" y="1143000"/>
            <a:ext cx="3291840" cy="1645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 Median onset: 84 days (range 14-298)</a:t>
            </a:r>
            <a:endParaRPr sz="900">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 Grade 2+: 4% (requires intervention)</a:t>
            </a:r>
            <a:endParaRPr sz="900">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 Treatment-related deaths: 1 (0.5%)</a:t>
            </a:r>
            <a:endParaRPr sz="900">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 Most Grade 1-2 resolved with steroids</a:t>
            </a:r>
            <a:endParaRPr sz="900">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 Monitoring: CT q8 weeks recommended</a:t>
            </a:r>
            <a:endParaRPr sz="900">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 Hold therapy for any new pulmonary sx</a:t>
            </a:r>
            <a:endParaRPr sz="900">
              <a:solidFill>
                <a:schemeClr val="dk1"/>
              </a:solidFill>
              <a:latin typeface="Calibri"/>
              <a:ea typeface="Calibri"/>
              <a:cs typeface="Calibri"/>
              <a:sym typeface="Calibri"/>
            </a:endParaRPr>
          </a:p>
        </p:txBody>
      </p:sp>
      <p:sp>
        <p:nvSpPr>
          <p:cNvPr id="123" name="Google Shape;123;p6"/>
          <p:cNvSpPr/>
          <p:nvPr/>
        </p:nvSpPr>
        <p:spPr>
          <a:xfrm>
            <a:off x="457200" y="3200400"/>
            <a:ext cx="8229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000"/>
              <a:buFont typeface="Calibri"/>
              <a:buNone/>
            </a:pPr>
            <a:r>
              <a:rPr b="1" lang="en-US" sz="1000">
                <a:solidFill>
                  <a:srgbClr val="333333"/>
                </a:solidFill>
                <a:latin typeface="Calibri"/>
                <a:ea typeface="Calibri"/>
                <a:cs typeface="Calibri"/>
                <a:sym typeface="Calibri"/>
              </a:rPr>
              <a:t>Comparison to Other ADCs:</a:t>
            </a:r>
            <a:endParaRPr sz="1000">
              <a:solidFill>
                <a:schemeClr val="dk1"/>
              </a:solidFill>
              <a:latin typeface="Calibri"/>
              <a:ea typeface="Calibri"/>
              <a:cs typeface="Calibri"/>
              <a:sym typeface="Calibri"/>
            </a:endParaRPr>
          </a:p>
        </p:txBody>
      </p:sp>
      <p:sp>
        <p:nvSpPr>
          <p:cNvPr id="124" name="Google Shape;124;p6"/>
          <p:cNvSpPr/>
          <p:nvPr/>
        </p:nvSpPr>
        <p:spPr>
          <a:xfrm>
            <a:off x="457200" y="3474720"/>
            <a:ext cx="82296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1000"/>
              <a:buFont typeface="Calibri"/>
              <a:buNone/>
            </a:pPr>
            <a:r>
              <a:rPr lang="en-US" sz="1000">
                <a:solidFill>
                  <a:srgbClr val="666666"/>
                </a:solidFill>
                <a:latin typeface="Calibri"/>
                <a:ea typeface="Calibri"/>
                <a:cs typeface="Calibri"/>
                <a:sym typeface="Calibri"/>
              </a:rPr>
              <a:t>• OVT-209 Grade 3+ ILD rate (4%) compares favorably to T-DXd (~5%) and Dato-DXd (~6%)</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666666"/>
              </a:buClr>
              <a:buSzPts val="1000"/>
              <a:buFont typeface="Calibri"/>
              <a:buNone/>
            </a:pPr>
            <a:r>
              <a:rPr lang="en-US" sz="1000">
                <a:solidFill>
                  <a:srgbClr val="666666"/>
                </a:solidFill>
                <a:latin typeface="Calibri"/>
                <a:ea typeface="Calibri"/>
                <a:cs typeface="Calibri"/>
                <a:sym typeface="Calibri"/>
              </a:rPr>
              <a:t>• Nausea rates higher than some competitors but manageable with standard antiemetics</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666666"/>
              </a:buClr>
              <a:buSzPts val="1000"/>
              <a:buFont typeface="Calibri"/>
              <a:buNone/>
            </a:pPr>
            <a:r>
              <a:rPr lang="en-US" sz="1000">
                <a:solidFill>
                  <a:srgbClr val="666666"/>
                </a:solidFill>
                <a:latin typeface="Calibri"/>
                <a:ea typeface="Calibri"/>
                <a:cs typeface="Calibri"/>
                <a:sym typeface="Calibri"/>
              </a:rPr>
              <a:t>• No cumulative toxicity signals observed with extended treatment</a:t>
            </a:r>
            <a:endParaRPr sz="1000">
              <a:solidFill>
                <a:schemeClr val="dk1"/>
              </a:solidFill>
              <a:latin typeface="Calibri"/>
              <a:ea typeface="Calibri"/>
              <a:cs typeface="Calibri"/>
              <a:sym typeface="Calibri"/>
            </a:endParaRPr>
          </a:p>
        </p:txBody>
      </p:sp>
      <p:sp>
        <p:nvSpPr>
          <p:cNvPr id="125" name="Google Shape;125;p6"/>
          <p:cNvSpPr/>
          <p:nvPr/>
        </p:nvSpPr>
        <p:spPr>
          <a:xfrm>
            <a:off x="457200" y="4709160"/>
            <a:ext cx="64008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800"/>
              <a:buFont typeface="Calibri"/>
              <a:buNone/>
            </a:pPr>
            <a:r>
              <a:rPr lang="en-US" sz="800">
                <a:solidFill>
                  <a:srgbClr val="666666"/>
                </a:solidFill>
                <a:latin typeface="Calibri"/>
                <a:ea typeface="Calibri"/>
                <a:cs typeface="Calibri"/>
                <a:sym typeface="Calibri"/>
              </a:rPr>
              <a:t>OVT-209 MSL Training Series | Session 3 | April 2025</a:t>
            </a:r>
            <a:endParaRPr sz="800">
              <a:solidFill>
                <a:schemeClr val="dk1"/>
              </a:solidFill>
              <a:latin typeface="Calibri"/>
              <a:ea typeface="Calibri"/>
              <a:cs typeface="Calibri"/>
              <a:sym typeface="Calibri"/>
            </a:endParaRPr>
          </a:p>
        </p:txBody>
      </p:sp>
      <p:sp>
        <p:nvSpPr>
          <p:cNvPr id="126" name="Google Shape;126;p6"/>
          <p:cNvSpPr/>
          <p:nvPr/>
        </p:nvSpPr>
        <p:spPr>
          <a:xfrm>
            <a:off x="7772400" y="4709160"/>
            <a:ext cx="9144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C0000"/>
              </a:buClr>
              <a:buSzPts val="800"/>
              <a:buFont typeface="Calibri"/>
              <a:buNone/>
            </a:pPr>
            <a:r>
              <a:rPr b="1" lang="en-US" sz="800">
                <a:solidFill>
                  <a:srgbClr val="CC0000"/>
                </a:solidFill>
                <a:latin typeface="Calibri"/>
                <a:ea typeface="Calibri"/>
                <a:cs typeface="Calibri"/>
                <a:sym typeface="Calibri"/>
              </a:rPr>
              <a:t>INTERNAL</a:t>
            </a:r>
            <a:endParaRPr sz="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7"/>
          <p:cNvSpPr/>
          <p:nvPr/>
        </p:nvSpPr>
        <p:spPr>
          <a:xfrm>
            <a:off x="0" y="0"/>
            <a:ext cx="9144000" cy="548640"/>
          </a:xfrm>
          <a:prstGeom prst="rect">
            <a:avLst/>
          </a:prstGeom>
          <a:solidFill>
            <a:srgbClr val="1A3A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7"/>
          <p:cNvSpPr/>
          <p:nvPr/>
        </p:nvSpPr>
        <p:spPr>
          <a:xfrm>
            <a:off x="457200" y="1371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Learner Discussion &amp; Q&amp;A Notes (Morning Session)</a:t>
            </a:r>
            <a:endParaRPr sz="1600">
              <a:solidFill>
                <a:schemeClr val="dk1"/>
              </a:solidFill>
              <a:latin typeface="Calibri"/>
              <a:ea typeface="Calibri"/>
              <a:cs typeface="Calibri"/>
              <a:sym typeface="Calibri"/>
            </a:endParaRPr>
          </a:p>
        </p:txBody>
      </p:sp>
      <p:sp>
        <p:nvSpPr>
          <p:cNvPr id="134" name="Google Shape;134;p7"/>
          <p:cNvSpPr/>
          <p:nvPr/>
        </p:nvSpPr>
        <p:spPr>
          <a:xfrm>
            <a:off x="457200" y="59436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900"/>
              <a:buFont typeface="Calibri"/>
              <a:buNone/>
            </a:pPr>
            <a:r>
              <a:rPr i="1" lang="en-US" sz="900">
                <a:solidFill>
                  <a:srgbClr val="666666"/>
                </a:solidFill>
                <a:latin typeface="Calibri"/>
                <a:ea typeface="Calibri"/>
                <a:cs typeface="Calibri"/>
                <a:sym typeface="Calibri"/>
              </a:rPr>
              <a:t>Captured by J. Walsh | For internal training documentation only</a:t>
            </a:r>
            <a:endParaRPr sz="900">
              <a:solidFill>
                <a:schemeClr val="dk1"/>
              </a:solidFill>
              <a:latin typeface="Calibri"/>
              <a:ea typeface="Calibri"/>
              <a:cs typeface="Calibri"/>
              <a:sym typeface="Calibri"/>
            </a:endParaRPr>
          </a:p>
        </p:txBody>
      </p:sp>
      <p:sp>
        <p:nvSpPr>
          <p:cNvPr id="135" name="Google Shape;135;p7"/>
          <p:cNvSpPr/>
          <p:nvPr/>
        </p:nvSpPr>
        <p:spPr>
          <a:xfrm>
            <a:off x="457200" y="86868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900"/>
              <a:buFont typeface="Calibri"/>
              <a:buNone/>
            </a:pPr>
            <a:r>
              <a:rPr b="1" lang="en-US" sz="900">
                <a:solidFill>
                  <a:srgbClr val="1A3A5C"/>
                </a:solidFill>
                <a:latin typeface="Calibri"/>
                <a:ea typeface="Calibri"/>
                <a:cs typeface="Calibri"/>
                <a:sym typeface="Calibri"/>
              </a:rPr>
              <a:t>Sarah Chen (FL):</a:t>
            </a:r>
            <a:endParaRPr sz="900">
              <a:solidFill>
                <a:schemeClr val="dk1"/>
              </a:solidFill>
              <a:latin typeface="Calibri"/>
              <a:ea typeface="Calibri"/>
              <a:cs typeface="Calibri"/>
              <a:sym typeface="Calibri"/>
            </a:endParaRPr>
          </a:p>
        </p:txBody>
      </p:sp>
      <p:sp>
        <p:nvSpPr>
          <p:cNvPr id="136" name="Google Shape;136;p7"/>
          <p:cNvSpPr/>
          <p:nvPr/>
        </p:nvSpPr>
        <p:spPr>
          <a:xfrm>
            <a:off x="457200" y="102412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Really appreciate Dr. Chen joining - his perspective on the enrollment challenges was helpful. Quick logistical note: the coffee ran out by 10:15, maybe order more next time?</a:t>
            </a:r>
            <a:endParaRPr sz="900">
              <a:solidFill>
                <a:schemeClr val="dk1"/>
              </a:solidFill>
              <a:latin typeface="Calibri"/>
              <a:ea typeface="Calibri"/>
              <a:cs typeface="Calibri"/>
              <a:sym typeface="Calibri"/>
            </a:endParaRPr>
          </a:p>
        </p:txBody>
      </p:sp>
      <p:sp>
        <p:nvSpPr>
          <p:cNvPr id="137" name="Google Shape;137;p7"/>
          <p:cNvSpPr/>
          <p:nvPr/>
        </p:nvSpPr>
        <p:spPr>
          <a:xfrm>
            <a:off x="457200" y="160020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900"/>
              <a:buFont typeface="Calibri"/>
              <a:buNone/>
            </a:pPr>
            <a:r>
              <a:rPr b="1" lang="en-US" sz="900">
                <a:solidFill>
                  <a:srgbClr val="1A3A5C"/>
                </a:solidFill>
                <a:latin typeface="Calibri"/>
                <a:ea typeface="Calibri"/>
                <a:cs typeface="Calibri"/>
                <a:sym typeface="Calibri"/>
              </a:rPr>
              <a:t>Michael Torres (GA):</a:t>
            </a:r>
            <a:endParaRPr sz="900">
              <a:solidFill>
                <a:schemeClr val="dk1"/>
              </a:solidFill>
              <a:latin typeface="Calibri"/>
              <a:ea typeface="Calibri"/>
              <a:cs typeface="Calibri"/>
              <a:sym typeface="Calibri"/>
            </a:endParaRPr>
          </a:p>
        </p:txBody>
      </p:sp>
      <p:sp>
        <p:nvSpPr>
          <p:cNvPr id="138" name="Google Shape;138;p7"/>
          <p:cNvSpPr/>
          <p:nvPr/>
        </p:nvSpPr>
        <p:spPr>
          <a:xfrm>
            <a:off x="457200" y="175564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The 47% ORR is impressive but my KOLs are going to ask about OS data maturity. How do we address the 'wait and see' objection when they want to hold off until Phase III reads out?</a:t>
            </a:r>
            <a:endParaRPr sz="900">
              <a:solidFill>
                <a:schemeClr val="dk1"/>
              </a:solidFill>
              <a:latin typeface="Calibri"/>
              <a:ea typeface="Calibri"/>
              <a:cs typeface="Calibri"/>
              <a:sym typeface="Calibri"/>
            </a:endParaRPr>
          </a:p>
        </p:txBody>
      </p:sp>
      <p:sp>
        <p:nvSpPr>
          <p:cNvPr id="139" name="Google Shape;139;p7"/>
          <p:cNvSpPr/>
          <p:nvPr/>
        </p:nvSpPr>
        <p:spPr>
          <a:xfrm>
            <a:off x="457200" y="233172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900"/>
              <a:buFont typeface="Calibri"/>
              <a:buNone/>
            </a:pPr>
            <a:r>
              <a:rPr b="1" lang="en-US" sz="900">
                <a:solidFill>
                  <a:srgbClr val="1A3A5C"/>
                </a:solidFill>
                <a:latin typeface="Calibri"/>
                <a:ea typeface="Calibri"/>
                <a:cs typeface="Calibri"/>
                <a:sym typeface="Calibri"/>
              </a:rPr>
              <a:t>Emily Rodriguez (NC):</a:t>
            </a:r>
            <a:endParaRPr sz="900">
              <a:solidFill>
                <a:schemeClr val="dk1"/>
              </a:solidFill>
              <a:latin typeface="Calibri"/>
              <a:ea typeface="Calibri"/>
              <a:cs typeface="Calibri"/>
              <a:sym typeface="Calibri"/>
            </a:endParaRPr>
          </a:p>
        </p:txBody>
      </p:sp>
      <p:sp>
        <p:nvSpPr>
          <p:cNvPr id="140" name="Google Shape;140;p7"/>
          <p:cNvSpPr/>
          <p:nvPr/>
        </p:nvSpPr>
        <p:spPr>
          <a:xfrm>
            <a:off x="457200" y="248716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I found the ILD management algorithm really practical. One thing - the Maggiano's lunch was much better than the sandwiches from last session. The chicken marsala was excellent. That said, the coffee could have been better. </a:t>
            </a:r>
            <a:endParaRPr sz="900">
              <a:solidFill>
                <a:schemeClr val="dk1"/>
              </a:solidFill>
              <a:latin typeface="Calibri"/>
              <a:ea typeface="Calibri"/>
              <a:cs typeface="Calibri"/>
              <a:sym typeface="Calibri"/>
            </a:endParaRPr>
          </a:p>
        </p:txBody>
      </p:sp>
      <p:sp>
        <p:nvSpPr>
          <p:cNvPr id="141" name="Google Shape;141;p7"/>
          <p:cNvSpPr/>
          <p:nvPr/>
        </p:nvSpPr>
        <p:spPr>
          <a:xfrm>
            <a:off x="457200" y="306324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900"/>
              <a:buFont typeface="Calibri"/>
              <a:buNone/>
            </a:pPr>
            <a:r>
              <a:rPr b="1" lang="en-US" sz="900">
                <a:solidFill>
                  <a:srgbClr val="1A3A5C"/>
                </a:solidFill>
                <a:latin typeface="Calibri"/>
                <a:ea typeface="Calibri"/>
                <a:cs typeface="Calibri"/>
                <a:sym typeface="Calibri"/>
              </a:rPr>
              <a:t>Dr. Chen (Instructor):</a:t>
            </a:r>
            <a:endParaRPr sz="900">
              <a:solidFill>
                <a:schemeClr val="dk1"/>
              </a:solidFill>
              <a:latin typeface="Calibri"/>
              <a:ea typeface="Calibri"/>
              <a:cs typeface="Calibri"/>
              <a:sym typeface="Calibri"/>
            </a:endParaRPr>
          </a:p>
        </p:txBody>
      </p:sp>
      <p:sp>
        <p:nvSpPr>
          <p:cNvPr id="142" name="Google Shape;142;p7"/>
          <p:cNvSpPr/>
          <p:nvPr/>
        </p:nvSpPr>
        <p:spPr>
          <a:xfrm>
            <a:off x="457200" y="321868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Great question on OS, Michael. I tell my colleagues that the PFS signal is strong enough to consider for appropriate patients now, especially those with limited options. We shouldn't let perfect be the enemy of good in 3L+ patients.</a:t>
            </a:r>
            <a:endParaRPr sz="900">
              <a:solidFill>
                <a:schemeClr val="dk1"/>
              </a:solidFill>
              <a:latin typeface="Calibri"/>
              <a:ea typeface="Calibri"/>
              <a:cs typeface="Calibri"/>
              <a:sym typeface="Calibri"/>
            </a:endParaRPr>
          </a:p>
        </p:txBody>
      </p:sp>
      <p:sp>
        <p:nvSpPr>
          <p:cNvPr id="143" name="Google Shape;143;p7"/>
          <p:cNvSpPr/>
          <p:nvPr/>
        </p:nvSpPr>
        <p:spPr>
          <a:xfrm>
            <a:off x="457200" y="379476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900"/>
              <a:buFont typeface="Calibri"/>
              <a:buNone/>
            </a:pPr>
            <a:r>
              <a:rPr b="1" lang="en-US" sz="900">
                <a:solidFill>
                  <a:srgbClr val="1A3A5C"/>
                </a:solidFill>
                <a:latin typeface="Calibri"/>
                <a:ea typeface="Calibri"/>
                <a:cs typeface="Calibri"/>
                <a:sym typeface="Calibri"/>
              </a:rPr>
              <a:t>David Park (SC):</a:t>
            </a:r>
            <a:endParaRPr sz="900">
              <a:solidFill>
                <a:schemeClr val="dk1"/>
              </a:solidFill>
              <a:latin typeface="Calibri"/>
              <a:ea typeface="Calibri"/>
              <a:cs typeface="Calibri"/>
              <a:sym typeface="Calibri"/>
            </a:endParaRPr>
          </a:p>
        </p:txBody>
      </p:sp>
      <p:sp>
        <p:nvSpPr>
          <p:cNvPr id="144" name="Google Shape;144;p7"/>
          <p:cNvSpPr/>
          <p:nvPr/>
        </p:nvSpPr>
        <p:spPr>
          <a:xfrm>
            <a:off x="457200" y="395020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For sequencing - are we positioning OVT-209 before or after docetaxel? My Greenville KOLs are very docetaxel-entrenched. They see it as 'the devil they know' even with the toxicity.</a:t>
            </a:r>
            <a:endParaRPr sz="900">
              <a:solidFill>
                <a:schemeClr val="dk1"/>
              </a:solidFill>
              <a:latin typeface="Calibri"/>
              <a:ea typeface="Calibri"/>
              <a:cs typeface="Calibri"/>
              <a:sym typeface="Calibri"/>
            </a:endParaRPr>
          </a:p>
        </p:txBody>
      </p:sp>
      <p:sp>
        <p:nvSpPr>
          <p:cNvPr id="145" name="Google Shape;145;p7"/>
          <p:cNvSpPr/>
          <p:nvPr/>
        </p:nvSpPr>
        <p:spPr>
          <a:xfrm>
            <a:off x="457200" y="4709160"/>
            <a:ext cx="64008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800"/>
              <a:buFont typeface="Calibri"/>
              <a:buNone/>
            </a:pPr>
            <a:r>
              <a:rPr lang="en-US" sz="800">
                <a:solidFill>
                  <a:srgbClr val="666666"/>
                </a:solidFill>
                <a:latin typeface="Calibri"/>
                <a:ea typeface="Calibri"/>
                <a:cs typeface="Calibri"/>
                <a:sym typeface="Calibri"/>
              </a:rPr>
              <a:t>OVT-209 MSL Training Series | Session 3 | April 2025</a:t>
            </a:r>
            <a:endParaRPr sz="800">
              <a:solidFill>
                <a:schemeClr val="dk1"/>
              </a:solidFill>
              <a:latin typeface="Calibri"/>
              <a:ea typeface="Calibri"/>
              <a:cs typeface="Calibri"/>
              <a:sym typeface="Calibri"/>
            </a:endParaRPr>
          </a:p>
        </p:txBody>
      </p:sp>
      <p:sp>
        <p:nvSpPr>
          <p:cNvPr id="146" name="Google Shape;146;p7"/>
          <p:cNvSpPr/>
          <p:nvPr/>
        </p:nvSpPr>
        <p:spPr>
          <a:xfrm>
            <a:off x="7772400" y="4709160"/>
            <a:ext cx="9144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800"/>
              <a:buFont typeface="Calibri"/>
              <a:buNone/>
            </a:pPr>
            <a:r>
              <a:rPr lang="en-US" sz="800">
                <a:solidFill>
                  <a:srgbClr val="666666"/>
                </a:solidFill>
                <a:latin typeface="Calibri"/>
                <a:ea typeface="Calibri"/>
                <a:cs typeface="Calibri"/>
                <a:sym typeface="Calibri"/>
              </a:rPr>
              <a:t>Page 1 of 4</a:t>
            </a:r>
            <a:endParaRPr sz="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8"/>
          <p:cNvSpPr/>
          <p:nvPr/>
        </p:nvSpPr>
        <p:spPr>
          <a:xfrm>
            <a:off x="0" y="0"/>
            <a:ext cx="9144000" cy="548640"/>
          </a:xfrm>
          <a:prstGeom prst="rect">
            <a:avLst/>
          </a:prstGeom>
          <a:solidFill>
            <a:srgbClr val="1A3A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8"/>
          <p:cNvSpPr/>
          <p:nvPr/>
        </p:nvSpPr>
        <p:spPr>
          <a:xfrm>
            <a:off x="457200" y="1371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Learner Discussion &amp; Q&amp;A Notes (Morning Session cont.)</a:t>
            </a:r>
            <a:endParaRPr sz="1600">
              <a:solidFill>
                <a:schemeClr val="dk1"/>
              </a:solidFill>
              <a:latin typeface="Calibri"/>
              <a:ea typeface="Calibri"/>
              <a:cs typeface="Calibri"/>
              <a:sym typeface="Calibri"/>
            </a:endParaRPr>
          </a:p>
        </p:txBody>
      </p:sp>
      <p:sp>
        <p:nvSpPr>
          <p:cNvPr id="154" name="Google Shape;154;p8"/>
          <p:cNvSpPr/>
          <p:nvPr/>
        </p:nvSpPr>
        <p:spPr>
          <a:xfrm>
            <a:off x="457200" y="59436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900"/>
              <a:buFont typeface="Calibri"/>
              <a:buNone/>
            </a:pPr>
            <a:r>
              <a:rPr i="1" lang="en-US" sz="900">
                <a:solidFill>
                  <a:srgbClr val="666666"/>
                </a:solidFill>
                <a:latin typeface="Calibri"/>
                <a:ea typeface="Calibri"/>
                <a:cs typeface="Calibri"/>
                <a:sym typeface="Calibri"/>
              </a:rPr>
              <a:t>Captured by J. Walsh | For internal training documentation only</a:t>
            </a:r>
            <a:endParaRPr sz="900">
              <a:solidFill>
                <a:schemeClr val="dk1"/>
              </a:solidFill>
              <a:latin typeface="Calibri"/>
              <a:ea typeface="Calibri"/>
              <a:cs typeface="Calibri"/>
              <a:sym typeface="Calibri"/>
            </a:endParaRPr>
          </a:p>
        </p:txBody>
      </p:sp>
      <p:sp>
        <p:nvSpPr>
          <p:cNvPr id="155" name="Google Shape;155;p8"/>
          <p:cNvSpPr/>
          <p:nvPr/>
        </p:nvSpPr>
        <p:spPr>
          <a:xfrm>
            <a:off x="457200" y="86868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900"/>
              <a:buFont typeface="Calibri"/>
              <a:buNone/>
            </a:pPr>
            <a:r>
              <a:rPr b="1" lang="en-US" sz="900">
                <a:solidFill>
                  <a:srgbClr val="1A3A5C"/>
                </a:solidFill>
                <a:latin typeface="Calibri"/>
                <a:ea typeface="Calibri"/>
                <a:cs typeface="Calibri"/>
                <a:sym typeface="Calibri"/>
              </a:rPr>
              <a:t>Jennifer Williams (TN):</a:t>
            </a:r>
            <a:endParaRPr sz="900">
              <a:solidFill>
                <a:schemeClr val="dk1"/>
              </a:solidFill>
              <a:latin typeface="Calibri"/>
              <a:ea typeface="Calibri"/>
              <a:cs typeface="Calibri"/>
              <a:sym typeface="Calibri"/>
            </a:endParaRPr>
          </a:p>
        </p:txBody>
      </p:sp>
      <p:sp>
        <p:nvSpPr>
          <p:cNvPr id="156" name="Google Shape;156;p8"/>
          <p:cNvSpPr/>
          <p:nvPr/>
        </p:nvSpPr>
        <p:spPr>
          <a:xfrm>
            <a:off x="457200" y="102412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The competitive positioning vs Lunexorimab is going to be critical post-ASCO. If their ILD rates come in higher as rumored, that's our key differentiator. Also - can we get the WiFi password? I couldn't connect during break.</a:t>
            </a:r>
            <a:endParaRPr sz="900">
              <a:solidFill>
                <a:schemeClr val="dk1"/>
              </a:solidFill>
              <a:latin typeface="Calibri"/>
              <a:ea typeface="Calibri"/>
              <a:cs typeface="Calibri"/>
              <a:sym typeface="Calibri"/>
            </a:endParaRPr>
          </a:p>
        </p:txBody>
      </p:sp>
      <p:sp>
        <p:nvSpPr>
          <p:cNvPr id="157" name="Google Shape;157;p8"/>
          <p:cNvSpPr/>
          <p:nvPr/>
        </p:nvSpPr>
        <p:spPr>
          <a:xfrm>
            <a:off x="457200" y="160020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900"/>
              <a:buFont typeface="Calibri"/>
              <a:buNone/>
            </a:pPr>
            <a:r>
              <a:rPr b="1" lang="en-US" sz="900">
                <a:solidFill>
                  <a:srgbClr val="1A3A5C"/>
                </a:solidFill>
                <a:latin typeface="Calibri"/>
                <a:ea typeface="Calibri"/>
                <a:cs typeface="Calibri"/>
                <a:sym typeface="Calibri"/>
              </a:rPr>
              <a:t>Dr. Martinez (Instructor):</a:t>
            </a:r>
            <a:endParaRPr sz="900">
              <a:solidFill>
                <a:schemeClr val="dk1"/>
              </a:solidFill>
              <a:latin typeface="Calibri"/>
              <a:ea typeface="Calibri"/>
              <a:cs typeface="Calibri"/>
              <a:sym typeface="Calibri"/>
            </a:endParaRPr>
          </a:p>
        </p:txBody>
      </p:sp>
      <p:sp>
        <p:nvSpPr>
          <p:cNvPr id="158" name="Google Shape;158;p8"/>
          <p:cNvSpPr/>
          <p:nvPr/>
        </p:nvSpPr>
        <p:spPr>
          <a:xfrm>
            <a:off x="457200" y="175564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Exactly right, Jennifer. Our 4% Grade 3+ ILD vs their anticipated 7-8% is a meaningful clinical difference. Physicians managing multiple ADC patients will notice this.</a:t>
            </a:r>
            <a:endParaRPr sz="900">
              <a:solidFill>
                <a:schemeClr val="dk1"/>
              </a:solidFill>
              <a:latin typeface="Calibri"/>
              <a:ea typeface="Calibri"/>
              <a:cs typeface="Calibri"/>
              <a:sym typeface="Calibri"/>
            </a:endParaRPr>
          </a:p>
        </p:txBody>
      </p:sp>
      <p:sp>
        <p:nvSpPr>
          <p:cNvPr id="159" name="Google Shape;159;p8"/>
          <p:cNvSpPr/>
          <p:nvPr/>
        </p:nvSpPr>
        <p:spPr>
          <a:xfrm>
            <a:off x="457200" y="233172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900"/>
              <a:buFont typeface="Calibri"/>
              <a:buNone/>
            </a:pPr>
            <a:r>
              <a:rPr b="1" lang="en-US" sz="900">
                <a:solidFill>
                  <a:srgbClr val="1A3A5C"/>
                </a:solidFill>
                <a:latin typeface="Calibri"/>
                <a:ea typeface="Calibri"/>
                <a:cs typeface="Calibri"/>
                <a:sym typeface="Calibri"/>
              </a:rPr>
              <a:t>Amanda Foster (AL):</a:t>
            </a:r>
            <a:endParaRPr sz="900">
              <a:solidFill>
                <a:schemeClr val="dk1"/>
              </a:solidFill>
              <a:latin typeface="Calibri"/>
              <a:ea typeface="Calibri"/>
              <a:cs typeface="Calibri"/>
              <a:sym typeface="Calibri"/>
            </a:endParaRPr>
          </a:p>
        </p:txBody>
      </p:sp>
      <p:sp>
        <p:nvSpPr>
          <p:cNvPr id="160" name="Google Shape;160;p8"/>
          <p:cNvSpPr/>
          <p:nvPr/>
        </p:nvSpPr>
        <p:spPr>
          <a:xfrm>
            <a:off x="457200" y="248716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I'm struggling with the biomarker-negative positioning. If PD-L1 doesn't predict response, what DO we tell KOLs about patient selection? They want some way to enrich for responders. Also, separately, the coffee was served late and that </a:t>
            </a:r>
            <a:r>
              <a:rPr lang="en-US" sz="900">
                <a:solidFill>
                  <a:srgbClr val="333333"/>
                </a:solidFill>
                <a:latin typeface="Calibri"/>
                <a:ea typeface="Calibri"/>
                <a:cs typeface="Calibri"/>
                <a:sym typeface="Calibri"/>
              </a:rPr>
              <a:t>contributed</a:t>
            </a:r>
            <a:r>
              <a:rPr lang="en-US" sz="900">
                <a:solidFill>
                  <a:srgbClr val="333333"/>
                </a:solidFill>
                <a:latin typeface="Calibri"/>
                <a:ea typeface="Calibri"/>
                <a:cs typeface="Calibri"/>
                <a:sym typeface="Calibri"/>
              </a:rPr>
              <a:t> to our fatigue as a group for this session. </a:t>
            </a:r>
            <a:endParaRPr sz="900">
              <a:solidFill>
                <a:schemeClr val="dk1"/>
              </a:solidFill>
              <a:latin typeface="Calibri"/>
              <a:ea typeface="Calibri"/>
              <a:cs typeface="Calibri"/>
              <a:sym typeface="Calibri"/>
            </a:endParaRPr>
          </a:p>
        </p:txBody>
      </p:sp>
      <p:sp>
        <p:nvSpPr>
          <p:cNvPr id="161" name="Google Shape;161;p8"/>
          <p:cNvSpPr/>
          <p:nvPr/>
        </p:nvSpPr>
        <p:spPr>
          <a:xfrm>
            <a:off x="457200" y="306324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900"/>
              <a:buFont typeface="Calibri"/>
              <a:buNone/>
            </a:pPr>
            <a:r>
              <a:rPr b="1" lang="en-US" sz="900">
                <a:solidFill>
                  <a:srgbClr val="1A3A5C"/>
                </a:solidFill>
                <a:latin typeface="Calibri"/>
                <a:ea typeface="Calibri"/>
                <a:cs typeface="Calibri"/>
                <a:sym typeface="Calibri"/>
              </a:rPr>
              <a:t>Robert Kim (FL):</a:t>
            </a:r>
            <a:endParaRPr sz="900">
              <a:solidFill>
                <a:schemeClr val="dk1"/>
              </a:solidFill>
              <a:latin typeface="Calibri"/>
              <a:ea typeface="Calibri"/>
              <a:cs typeface="Calibri"/>
              <a:sym typeface="Calibri"/>
            </a:endParaRPr>
          </a:p>
        </p:txBody>
      </p:sp>
      <p:sp>
        <p:nvSpPr>
          <p:cNvPr id="162" name="Google Shape;162;p8"/>
          <p:cNvSpPr/>
          <p:nvPr/>
        </p:nvSpPr>
        <p:spPr>
          <a:xfrm>
            <a:off x="457200" y="321868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The breakout room temperature was freezing and the coffee was cold - I could barely focus. But on the science - the Asian subgroup data is particularly relevant for my Miami territory. Consistent efficacy but slightly higher nausea - is this a body weight issue or pharmacogenomic?</a:t>
            </a:r>
            <a:endParaRPr sz="900">
              <a:solidFill>
                <a:schemeClr val="dk1"/>
              </a:solidFill>
              <a:latin typeface="Calibri"/>
              <a:ea typeface="Calibri"/>
              <a:cs typeface="Calibri"/>
              <a:sym typeface="Calibri"/>
            </a:endParaRPr>
          </a:p>
        </p:txBody>
      </p:sp>
      <p:sp>
        <p:nvSpPr>
          <p:cNvPr id="163" name="Google Shape;163;p8"/>
          <p:cNvSpPr/>
          <p:nvPr/>
        </p:nvSpPr>
        <p:spPr>
          <a:xfrm>
            <a:off x="457200" y="379476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900"/>
              <a:buFont typeface="Calibri"/>
              <a:buNone/>
            </a:pPr>
            <a:r>
              <a:rPr b="1" lang="en-US" sz="900">
                <a:solidFill>
                  <a:srgbClr val="1A3A5C"/>
                </a:solidFill>
                <a:latin typeface="Calibri"/>
                <a:ea typeface="Calibri"/>
                <a:cs typeface="Calibri"/>
                <a:sym typeface="Calibri"/>
              </a:rPr>
              <a:t>Dr. Chen (Instructor):</a:t>
            </a:r>
            <a:endParaRPr sz="900">
              <a:solidFill>
                <a:schemeClr val="dk1"/>
              </a:solidFill>
              <a:latin typeface="Calibri"/>
              <a:ea typeface="Calibri"/>
              <a:cs typeface="Calibri"/>
              <a:sym typeface="Calibri"/>
            </a:endParaRPr>
          </a:p>
        </p:txBody>
      </p:sp>
      <p:sp>
        <p:nvSpPr>
          <p:cNvPr id="164" name="Google Shape;164;p8"/>
          <p:cNvSpPr/>
          <p:nvPr/>
        </p:nvSpPr>
        <p:spPr>
          <a:xfrm>
            <a:off x="457200" y="395020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Robert, good observation. We're investigating this. Preliminary data suggests it may be related to UGT1A1 polymorphisms more common in Asian populations. Similar pattern seen with irinotecan-based regimens.</a:t>
            </a:r>
            <a:endParaRPr sz="900">
              <a:solidFill>
                <a:schemeClr val="dk1"/>
              </a:solidFill>
              <a:latin typeface="Calibri"/>
              <a:ea typeface="Calibri"/>
              <a:cs typeface="Calibri"/>
              <a:sym typeface="Calibri"/>
            </a:endParaRPr>
          </a:p>
        </p:txBody>
      </p:sp>
      <p:sp>
        <p:nvSpPr>
          <p:cNvPr id="165" name="Google Shape;165;p8"/>
          <p:cNvSpPr/>
          <p:nvPr/>
        </p:nvSpPr>
        <p:spPr>
          <a:xfrm>
            <a:off x="457200" y="4709160"/>
            <a:ext cx="64008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800"/>
              <a:buFont typeface="Calibri"/>
              <a:buNone/>
            </a:pPr>
            <a:r>
              <a:rPr lang="en-US" sz="800">
                <a:solidFill>
                  <a:srgbClr val="666666"/>
                </a:solidFill>
                <a:latin typeface="Calibri"/>
                <a:ea typeface="Calibri"/>
                <a:cs typeface="Calibri"/>
                <a:sym typeface="Calibri"/>
              </a:rPr>
              <a:t>OVT-209 MSL Training Series | Session 3 | April 2025</a:t>
            </a:r>
            <a:endParaRPr sz="800">
              <a:solidFill>
                <a:schemeClr val="dk1"/>
              </a:solidFill>
              <a:latin typeface="Calibri"/>
              <a:ea typeface="Calibri"/>
              <a:cs typeface="Calibri"/>
              <a:sym typeface="Calibri"/>
            </a:endParaRPr>
          </a:p>
        </p:txBody>
      </p:sp>
      <p:sp>
        <p:nvSpPr>
          <p:cNvPr id="166" name="Google Shape;166;p8"/>
          <p:cNvSpPr/>
          <p:nvPr/>
        </p:nvSpPr>
        <p:spPr>
          <a:xfrm>
            <a:off x="7772400" y="4709160"/>
            <a:ext cx="9144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800"/>
              <a:buFont typeface="Calibri"/>
              <a:buNone/>
            </a:pPr>
            <a:r>
              <a:rPr lang="en-US" sz="800">
                <a:solidFill>
                  <a:srgbClr val="666666"/>
                </a:solidFill>
                <a:latin typeface="Calibri"/>
                <a:ea typeface="Calibri"/>
                <a:cs typeface="Calibri"/>
                <a:sym typeface="Calibri"/>
              </a:rPr>
              <a:t>Page 2 of 4</a:t>
            </a:r>
            <a:endParaRPr sz="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9"/>
          <p:cNvSpPr/>
          <p:nvPr/>
        </p:nvSpPr>
        <p:spPr>
          <a:xfrm>
            <a:off x="0" y="0"/>
            <a:ext cx="9144000" cy="548640"/>
          </a:xfrm>
          <a:prstGeom prst="rect">
            <a:avLst/>
          </a:prstGeom>
          <a:solidFill>
            <a:srgbClr val="1A3A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9"/>
          <p:cNvSpPr/>
          <p:nvPr/>
        </p:nvSpPr>
        <p:spPr>
          <a:xfrm>
            <a:off x="457200" y="1371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Learner Discussion &amp; Q&amp;A Notes (Afternoon Session)</a:t>
            </a:r>
            <a:endParaRPr sz="1600">
              <a:solidFill>
                <a:schemeClr val="dk1"/>
              </a:solidFill>
              <a:latin typeface="Calibri"/>
              <a:ea typeface="Calibri"/>
              <a:cs typeface="Calibri"/>
              <a:sym typeface="Calibri"/>
            </a:endParaRPr>
          </a:p>
        </p:txBody>
      </p:sp>
      <p:sp>
        <p:nvSpPr>
          <p:cNvPr id="174" name="Google Shape;174;p9"/>
          <p:cNvSpPr/>
          <p:nvPr/>
        </p:nvSpPr>
        <p:spPr>
          <a:xfrm>
            <a:off x="457200" y="59436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900"/>
              <a:buFont typeface="Calibri"/>
              <a:buNone/>
            </a:pPr>
            <a:r>
              <a:rPr i="1" lang="en-US" sz="900">
                <a:solidFill>
                  <a:srgbClr val="666666"/>
                </a:solidFill>
                <a:latin typeface="Calibri"/>
                <a:ea typeface="Calibri"/>
                <a:cs typeface="Calibri"/>
                <a:sym typeface="Calibri"/>
              </a:rPr>
              <a:t>Captured by J. Walsh | For internal training documentation only</a:t>
            </a:r>
            <a:endParaRPr sz="900">
              <a:solidFill>
                <a:schemeClr val="dk1"/>
              </a:solidFill>
              <a:latin typeface="Calibri"/>
              <a:ea typeface="Calibri"/>
              <a:cs typeface="Calibri"/>
              <a:sym typeface="Calibri"/>
            </a:endParaRPr>
          </a:p>
        </p:txBody>
      </p:sp>
      <p:sp>
        <p:nvSpPr>
          <p:cNvPr id="175" name="Google Shape;175;p9"/>
          <p:cNvSpPr/>
          <p:nvPr/>
        </p:nvSpPr>
        <p:spPr>
          <a:xfrm>
            <a:off x="457200" y="86868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900"/>
              <a:buFont typeface="Calibri"/>
              <a:buNone/>
            </a:pPr>
            <a:r>
              <a:rPr b="1" lang="en-US" sz="900">
                <a:solidFill>
                  <a:srgbClr val="1A3A5C"/>
                </a:solidFill>
                <a:latin typeface="Calibri"/>
                <a:ea typeface="Calibri"/>
                <a:cs typeface="Calibri"/>
                <a:sym typeface="Calibri"/>
              </a:rPr>
              <a:t>Lisa Patel (GA):</a:t>
            </a:r>
            <a:endParaRPr sz="900">
              <a:solidFill>
                <a:schemeClr val="dk1"/>
              </a:solidFill>
              <a:latin typeface="Calibri"/>
              <a:ea typeface="Calibri"/>
              <a:cs typeface="Calibri"/>
              <a:sym typeface="Calibri"/>
            </a:endParaRPr>
          </a:p>
        </p:txBody>
      </p:sp>
      <p:sp>
        <p:nvSpPr>
          <p:cNvPr id="176" name="Google Shape;176;p9"/>
          <p:cNvSpPr/>
          <p:nvPr/>
        </p:nvSpPr>
        <p:spPr>
          <a:xfrm>
            <a:off x="457200" y="102412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The case-based ILD session was excellent. Question: if a patient develops Grade 2 ILD that resolves with steroids, can they be rechallenged? My Emory KOLs are asking about this specifically.</a:t>
            </a:r>
            <a:endParaRPr sz="900">
              <a:solidFill>
                <a:schemeClr val="dk1"/>
              </a:solidFill>
              <a:latin typeface="Calibri"/>
              <a:ea typeface="Calibri"/>
              <a:cs typeface="Calibri"/>
              <a:sym typeface="Calibri"/>
            </a:endParaRPr>
          </a:p>
        </p:txBody>
      </p:sp>
      <p:sp>
        <p:nvSpPr>
          <p:cNvPr id="177" name="Google Shape;177;p9"/>
          <p:cNvSpPr/>
          <p:nvPr/>
        </p:nvSpPr>
        <p:spPr>
          <a:xfrm>
            <a:off x="457200" y="160020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900"/>
              <a:buFont typeface="Calibri"/>
              <a:buNone/>
            </a:pPr>
            <a:r>
              <a:rPr b="1" lang="en-US" sz="900">
                <a:solidFill>
                  <a:srgbClr val="1A3A5C"/>
                </a:solidFill>
                <a:latin typeface="Calibri"/>
                <a:ea typeface="Calibri"/>
                <a:cs typeface="Calibri"/>
                <a:sym typeface="Calibri"/>
              </a:rPr>
              <a:t>Dr. Martinez (Instructor):</a:t>
            </a:r>
            <a:endParaRPr sz="900">
              <a:solidFill>
                <a:schemeClr val="dk1"/>
              </a:solidFill>
              <a:latin typeface="Calibri"/>
              <a:ea typeface="Calibri"/>
              <a:cs typeface="Calibri"/>
              <a:sym typeface="Calibri"/>
            </a:endParaRPr>
          </a:p>
        </p:txBody>
      </p:sp>
      <p:sp>
        <p:nvSpPr>
          <p:cNvPr id="178" name="Google Shape;178;p9"/>
          <p:cNvSpPr/>
          <p:nvPr/>
        </p:nvSpPr>
        <p:spPr>
          <a:xfrm>
            <a:off x="457200" y="175564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Current protocol allows rechallenge after Grade 1-2 resolution at physician discretion with enhanced monitoring. Grade 3+ is permanent discontinuation. We have limited rechallenge data - about 40% successfully resumed treatment.</a:t>
            </a:r>
            <a:endParaRPr sz="900">
              <a:solidFill>
                <a:schemeClr val="dk1"/>
              </a:solidFill>
              <a:latin typeface="Calibri"/>
              <a:ea typeface="Calibri"/>
              <a:cs typeface="Calibri"/>
              <a:sym typeface="Calibri"/>
            </a:endParaRPr>
          </a:p>
        </p:txBody>
      </p:sp>
      <p:sp>
        <p:nvSpPr>
          <p:cNvPr id="179" name="Google Shape;179;p9"/>
          <p:cNvSpPr/>
          <p:nvPr/>
        </p:nvSpPr>
        <p:spPr>
          <a:xfrm>
            <a:off x="457200" y="233172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900"/>
              <a:buFont typeface="Calibri"/>
              <a:buNone/>
            </a:pPr>
            <a:r>
              <a:rPr b="1" lang="en-US" sz="900">
                <a:solidFill>
                  <a:srgbClr val="1A3A5C"/>
                </a:solidFill>
                <a:latin typeface="Calibri"/>
                <a:ea typeface="Calibri"/>
                <a:cs typeface="Calibri"/>
                <a:sym typeface="Calibri"/>
              </a:rPr>
              <a:t>Christopher Lee (NC):</a:t>
            </a:r>
            <a:endParaRPr sz="900">
              <a:solidFill>
                <a:schemeClr val="dk1"/>
              </a:solidFill>
              <a:latin typeface="Calibri"/>
              <a:ea typeface="Calibri"/>
              <a:cs typeface="Calibri"/>
              <a:sym typeface="Calibri"/>
            </a:endParaRPr>
          </a:p>
        </p:txBody>
      </p:sp>
      <p:sp>
        <p:nvSpPr>
          <p:cNvPr id="180" name="Google Shape;180;p9"/>
          <p:cNvSpPr/>
          <p:nvPr/>
        </p:nvSpPr>
        <p:spPr>
          <a:xfrm>
            <a:off x="457200" y="248716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Lunch feedback - the vegetarian lasagna was great, finally a good option for us! On sequencing: what about patients who progress quickly on 1L IO, like within 3 months? Are they good OVT-209 candidates or do we worry about aggressive biology?</a:t>
            </a:r>
            <a:endParaRPr sz="900">
              <a:solidFill>
                <a:schemeClr val="dk1"/>
              </a:solidFill>
              <a:latin typeface="Calibri"/>
              <a:ea typeface="Calibri"/>
              <a:cs typeface="Calibri"/>
              <a:sym typeface="Calibri"/>
            </a:endParaRPr>
          </a:p>
        </p:txBody>
      </p:sp>
      <p:sp>
        <p:nvSpPr>
          <p:cNvPr id="181" name="Google Shape;181;p9"/>
          <p:cNvSpPr/>
          <p:nvPr/>
        </p:nvSpPr>
        <p:spPr>
          <a:xfrm>
            <a:off x="457200" y="306324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900"/>
              <a:buFont typeface="Calibri"/>
              <a:buNone/>
            </a:pPr>
            <a:r>
              <a:rPr b="1" lang="en-US" sz="900">
                <a:solidFill>
                  <a:srgbClr val="1A3A5C"/>
                </a:solidFill>
                <a:latin typeface="Calibri"/>
                <a:ea typeface="Calibri"/>
                <a:cs typeface="Calibri"/>
                <a:sym typeface="Calibri"/>
              </a:rPr>
              <a:t>Maria Santos (SC):</a:t>
            </a:r>
            <a:endParaRPr sz="900">
              <a:solidFill>
                <a:schemeClr val="dk1"/>
              </a:solidFill>
              <a:latin typeface="Calibri"/>
              <a:ea typeface="Calibri"/>
              <a:cs typeface="Calibri"/>
              <a:sym typeface="Calibri"/>
            </a:endParaRPr>
          </a:p>
        </p:txBody>
      </p:sp>
      <p:sp>
        <p:nvSpPr>
          <p:cNvPr id="182" name="Google Shape;182;p9"/>
          <p:cNvSpPr/>
          <p:nvPr/>
        </p:nvSpPr>
        <p:spPr>
          <a:xfrm>
            <a:off x="457200" y="321868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My KOLs at MUSC are very focused on QoL data. The PRO instruments showed maintained QoL during treatment but they want to see it vs. docetaxel directly. Is that comparison coming?</a:t>
            </a:r>
            <a:endParaRPr sz="900">
              <a:solidFill>
                <a:schemeClr val="dk1"/>
              </a:solidFill>
              <a:latin typeface="Calibri"/>
              <a:ea typeface="Calibri"/>
              <a:cs typeface="Calibri"/>
              <a:sym typeface="Calibri"/>
            </a:endParaRPr>
          </a:p>
        </p:txBody>
      </p:sp>
      <p:sp>
        <p:nvSpPr>
          <p:cNvPr id="183" name="Google Shape;183;p9"/>
          <p:cNvSpPr/>
          <p:nvPr/>
        </p:nvSpPr>
        <p:spPr>
          <a:xfrm>
            <a:off x="457200" y="379476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900"/>
              <a:buFont typeface="Calibri"/>
              <a:buNone/>
            </a:pPr>
            <a:r>
              <a:rPr b="1" lang="en-US" sz="900">
                <a:solidFill>
                  <a:srgbClr val="1A3A5C"/>
                </a:solidFill>
                <a:latin typeface="Calibri"/>
                <a:ea typeface="Calibri"/>
                <a:cs typeface="Calibri"/>
                <a:sym typeface="Calibri"/>
              </a:rPr>
              <a:t>Marcus Thompson (Moderator):</a:t>
            </a:r>
            <a:endParaRPr sz="900">
              <a:solidFill>
                <a:schemeClr val="dk1"/>
              </a:solidFill>
              <a:latin typeface="Calibri"/>
              <a:ea typeface="Calibri"/>
              <a:cs typeface="Calibri"/>
              <a:sym typeface="Calibri"/>
            </a:endParaRPr>
          </a:p>
        </p:txBody>
      </p:sp>
      <p:sp>
        <p:nvSpPr>
          <p:cNvPr id="184" name="Google Shape;184;p9"/>
          <p:cNvSpPr/>
          <p:nvPr/>
        </p:nvSpPr>
        <p:spPr>
          <a:xfrm>
            <a:off x="457200" y="395020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Maria, that's a common request. The Phase III is randomized vs docetaxel so we'll have that comparison. For now, we can discuss the PRO data in context of historical docetaxel QoL literature.</a:t>
            </a:r>
            <a:endParaRPr sz="900">
              <a:solidFill>
                <a:schemeClr val="dk1"/>
              </a:solidFill>
              <a:latin typeface="Calibri"/>
              <a:ea typeface="Calibri"/>
              <a:cs typeface="Calibri"/>
              <a:sym typeface="Calibri"/>
            </a:endParaRPr>
          </a:p>
        </p:txBody>
      </p:sp>
      <p:sp>
        <p:nvSpPr>
          <p:cNvPr id="185" name="Google Shape;185;p9"/>
          <p:cNvSpPr/>
          <p:nvPr/>
        </p:nvSpPr>
        <p:spPr>
          <a:xfrm>
            <a:off x="457200" y="4709160"/>
            <a:ext cx="64008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800"/>
              <a:buFont typeface="Calibri"/>
              <a:buNone/>
            </a:pPr>
            <a:r>
              <a:rPr lang="en-US" sz="800">
                <a:solidFill>
                  <a:srgbClr val="666666"/>
                </a:solidFill>
                <a:latin typeface="Calibri"/>
                <a:ea typeface="Calibri"/>
                <a:cs typeface="Calibri"/>
                <a:sym typeface="Calibri"/>
              </a:rPr>
              <a:t>OVT-209 MSL Training Series | Session 3 | April 2025</a:t>
            </a:r>
            <a:endParaRPr sz="800">
              <a:solidFill>
                <a:schemeClr val="dk1"/>
              </a:solidFill>
              <a:latin typeface="Calibri"/>
              <a:ea typeface="Calibri"/>
              <a:cs typeface="Calibri"/>
              <a:sym typeface="Calibri"/>
            </a:endParaRPr>
          </a:p>
        </p:txBody>
      </p:sp>
      <p:sp>
        <p:nvSpPr>
          <p:cNvPr id="186" name="Google Shape;186;p9"/>
          <p:cNvSpPr/>
          <p:nvPr/>
        </p:nvSpPr>
        <p:spPr>
          <a:xfrm>
            <a:off x="7772400" y="4709160"/>
            <a:ext cx="9144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800"/>
              <a:buFont typeface="Calibri"/>
              <a:buNone/>
            </a:pPr>
            <a:r>
              <a:rPr lang="en-US" sz="800">
                <a:solidFill>
                  <a:srgbClr val="666666"/>
                </a:solidFill>
                <a:latin typeface="Calibri"/>
                <a:ea typeface="Calibri"/>
                <a:cs typeface="Calibri"/>
                <a:sym typeface="Calibri"/>
              </a:rPr>
              <a:t>Page 3 of 4</a:t>
            </a:r>
            <a:endParaRPr sz="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0"/>
          <p:cNvSpPr/>
          <p:nvPr/>
        </p:nvSpPr>
        <p:spPr>
          <a:xfrm>
            <a:off x="0" y="0"/>
            <a:ext cx="9144000" cy="548640"/>
          </a:xfrm>
          <a:prstGeom prst="rect">
            <a:avLst/>
          </a:prstGeom>
          <a:solidFill>
            <a:srgbClr val="1A3A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10"/>
          <p:cNvSpPr/>
          <p:nvPr/>
        </p:nvSpPr>
        <p:spPr>
          <a:xfrm>
            <a:off x="457200" y="1371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Learner Discussion &amp; Q&amp;A Notes (Afternoon Session cont.)</a:t>
            </a:r>
            <a:endParaRPr sz="1600">
              <a:solidFill>
                <a:schemeClr val="dk1"/>
              </a:solidFill>
              <a:latin typeface="Calibri"/>
              <a:ea typeface="Calibri"/>
              <a:cs typeface="Calibri"/>
              <a:sym typeface="Calibri"/>
            </a:endParaRPr>
          </a:p>
        </p:txBody>
      </p:sp>
      <p:sp>
        <p:nvSpPr>
          <p:cNvPr id="194" name="Google Shape;194;p10"/>
          <p:cNvSpPr/>
          <p:nvPr/>
        </p:nvSpPr>
        <p:spPr>
          <a:xfrm>
            <a:off x="457200" y="59436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900"/>
              <a:buFont typeface="Calibri"/>
              <a:buNone/>
            </a:pPr>
            <a:r>
              <a:rPr i="1" lang="en-US" sz="900">
                <a:solidFill>
                  <a:srgbClr val="666666"/>
                </a:solidFill>
                <a:latin typeface="Calibri"/>
                <a:ea typeface="Calibri"/>
                <a:cs typeface="Calibri"/>
                <a:sym typeface="Calibri"/>
              </a:rPr>
              <a:t>Captured by J. Walsh | For internal training documentation only</a:t>
            </a:r>
            <a:endParaRPr sz="900">
              <a:solidFill>
                <a:schemeClr val="dk1"/>
              </a:solidFill>
              <a:latin typeface="Calibri"/>
              <a:ea typeface="Calibri"/>
              <a:cs typeface="Calibri"/>
              <a:sym typeface="Calibri"/>
            </a:endParaRPr>
          </a:p>
        </p:txBody>
      </p:sp>
      <p:sp>
        <p:nvSpPr>
          <p:cNvPr id="195" name="Google Shape;195;p10"/>
          <p:cNvSpPr/>
          <p:nvPr/>
        </p:nvSpPr>
        <p:spPr>
          <a:xfrm>
            <a:off x="457200" y="86868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900"/>
              <a:buFont typeface="Calibri"/>
              <a:buNone/>
            </a:pPr>
            <a:r>
              <a:rPr b="1" lang="en-US" sz="900">
                <a:solidFill>
                  <a:srgbClr val="1A3A5C"/>
                </a:solidFill>
                <a:latin typeface="Calibri"/>
                <a:ea typeface="Calibri"/>
                <a:cs typeface="Calibri"/>
                <a:sym typeface="Calibri"/>
              </a:rPr>
              <a:t>James Wilson (TN):</a:t>
            </a:r>
            <a:endParaRPr sz="900">
              <a:solidFill>
                <a:schemeClr val="dk1"/>
              </a:solidFill>
              <a:latin typeface="Calibri"/>
              <a:ea typeface="Calibri"/>
              <a:cs typeface="Calibri"/>
              <a:sym typeface="Calibri"/>
            </a:endParaRPr>
          </a:p>
        </p:txBody>
      </p:sp>
      <p:sp>
        <p:nvSpPr>
          <p:cNvPr id="196" name="Google Shape;196;p10"/>
          <p:cNvSpPr/>
          <p:nvPr/>
        </p:nvSpPr>
        <p:spPr>
          <a:xfrm>
            <a:off x="457200" y="102412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Access and reimbursement is going to be our biggest barrier in community oncology. The 90-minute infusion time means chair time competition. Any thoughts on SubQ formulation development?</a:t>
            </a:r>
            <a:endParaRPr sz="900">
              <a:solidFill>
                <a:schemeClr val="dk1"/>
              </a:solidFill>
              <a:latin typeface="Calibri"/>
              <a:ea typeface="Calibri"/>
              <a:cs typeface="Calibri"/>
              <a:sym typeface="Calibri"/>
            </a:endParaRPr>
          </a:p>
        </p:txBody>
      </p:sp>
      <p:sp>
        <p:nvSpPr>
          <p:cNvPr id="197" name="Google Shape;197;p10"/>
          <p:cNvSpPr/>
          <p:nvPr/>
        </p:nvSpPr>
        <p:spPr>
          <a:xfrm>
            <a:off x="457200" y="160020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900"/>
              <a:buFont typeface="Calibri"/>
              <a:buNone/>
            </a:pPr>
            <a:r>
              <a:rPr b="1" lang="en-US" sz="900">
                <a:solidFill>
                  <a:srgbClr val="1A3A5C"/>
                </a:solidFill>
                <a:latin typeface="Calibri"/>
                <a:ea typeface="Calibri"/>
                <a:cs typeface="Calibri"/>
                <a:sym typeface="Calibri"/>
              </a:rPr>
              <a:t>Nicole Brown (AL):</a:t>
            </a:r>
            <a:endParaRPr sz="900">
              <a:solidFill>
                <a:schemeClr val="dk1"/>
              </a:solidFill>
              <a:latin typeface="Calibri"/>
              <a:ea typeface="Calibri"/>
              <a:cs typeface="Calibri"/>
              <a:sym typeface="Calibri"/>
            </a:endParaRPr>
          </a:p>
        </p:txBody>
      </p:sp>
      <p:sp>
        <p:nvSpPr>
          <p:cNvPr id="198" name="Google Shape;198;p10"/>
          <p:cNvSpPr/>
          <p:nvPr/>
        </p:nvSpPr>
        <p:spPr>
          <a:xfrm>
            <a:off x="457200" y="175564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The parking situation at this venue was terrible - I was 20 minutes late because of it. But the competitive workshop was really valuable. The role-play with the 'skeptical KOL' scenario helped me prepare for Dr. Patterson at UAB.</a:t>
            </a:r>
            <a:endParaRPr sz="900">
              <a:solidFill>
                <a:schemeClr val="dk1"/>
              </a:solidFill>
              <a:latin typeface="Calibri"/>
              <a:ea typeface="Calibri"/>
              <a:cs typeface="Calibri"/>
              <a:sym typeface="Calibri"/>
            </a:endParaRPr>
          </a:p>
        </p:txBody>
      </p:sp>
      <p:sp>
        <p:nvSpPr>
          <p:cNvPr id="199" name="Google Shape;199;p10"/>
          <p:cNvSpPr/>
          <p:nvPr/>
        </p:nvSpPr>
        <p:spPr>
          <a:xfrm>
            <a:off x="457200" y="233172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900"/>
              <a:buFont typeface="Calibri"/>
              <a:buNone/>
            </a:pPr>
            <a:r>
              <a:rPr b="1" lang="en-US" sz="900">
                <a:solidFill>
                  <a:srgbClr val="1A3A5C"/>
                </a:solidFill>
                <a:latin typeface="Calibri"/>
                <a:ea typeface="Calibri"/>
                <a:cs typeface="Calibri"/>
                <a:sym typeface="Calibri"/>
              </a:rPr>
              <a:t>Sarah Chen (FL):</a:t>
            </a:r>
            <a:endParaRPr sz="900">
              <a:solidFill>
                <a:schemeClr val="dk1"/>
              </a:solidFill>
              <a:latin typeface="Calibri"/>
              <a:ea typeface="Calibri"/>
              <a:cs typeface="Calibri"/>
              <a:sym typeface="Calibri"/>
            </a:endParaRPr>
          </a:p>
        </p:txBody>
      </p:sp>
      <p:sp>
        <p:nvSpPr>
          <p:cNvPr id="200" name="Google Shape;200;p10"/>
          <p:cNvSpPr/>
          <p:nvPr/>
        </p:nvSpPr>
        <p:spPr>
          <a:xfrm>
            <a:off x="457200" y="248716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Follow-up on infusion time - my Moffitt contacts say chair time is at a premium. They're interested in home infusion options. Is that being explored? Also, can we do the next training at a venue with better parking?</a:t>
            </a:r>
            <a:endParaRPr sz="900">
              <a:solidFill>
                <a:schemeClr val="dk1"/>
              </a:solidFill>
              <a:latin typeface="Calibri"/>
              <a:ea typeface="Calibri"/>
              <a:cs typeface="Calibri"/>
              <a:sym typeface="Calibri"/>
            </a:endParaRPr>
          </a:p>
        </p:txBody>
      </p:sp>
      <p:sp>
        <p:nvSpPr>
          <p:cNvPr id="201" name="Google Shape;201;p10"/>
          <p:cNvSpPr/>
          <p:nvPr/>
        </p:nvSpPr>
        <p:spPr>
          <a:xfrm>
            <a:off x="457200" y="306324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900"/>
              <a:buFont typeface="Calibri"/>
              <a:buNone/>
            </a:pPr>
            <a:r>
              <a:rPr b="1" lang="en-US" sz="900">
                <a:solidFill>
                  <a:srgbClr val="1A3A5C"/>
                </a:solidFill>
                <a:latin typeface="Calibri"/>
                <a:ea typeface="Calibri"/>
                <a:cs typeface="Calibri"/>
                <a:sym typeface="Calibri"/>
              </a:rPr>
              <a:t>Dr. Chen (Instructor):</a:t>
            </a:r>
            <a:endParaRPr sz="900">
              <a:solidFill>
                <a:schemeClr val="dk1"/>
              </a:solidFill>
              <a:latin typeface="Calibri"/>
              <a:ea typeface="Calibri"/>
              <a:cs typeface="Calibri"/>
              <a:sym typeface="Calibri"/>
            </a:endParaRPr>
          </a:p>
        </p:txBody>
      </p:sp>
      <p:sp>
        <p:nvSpPr>
          <p:cNvPr id="202" name="Google Shape;202;p10"/>
          <p:cNvSpPr/>
          <p:nvPr/>
        </p:nvSpPr>
        <p:spPr>
          <a:xfrm>
            <a:off x="457200" y="321868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On the rapid progressors question from earlier - actually, primary IO resistance may identify patients with more aggressive biology, but our subgroup data shows consistent benefit. These patients often have the greatest unmet need.</a:t>
            </a:r>
            <a:endParaRPr sz="900">
              <a:solidFill>
                <a:schemeClr val="dk1"/>
              </a:solidFill>
              <a:latin typeface="Calibri"/>
              <a:ea typeface="Calibri"/>
              <a:cs typeface="Calibri"/>
              <a:sym typeface="Calibri"/>
            </a:endParaRPr>
          </a:p>
        </p:txBody>
      </p:sp>
      <p:sp>
        <p:nvSpPr>
          <p:cNvPr id="203" name="Google Shape;203;p10"/>
          <p:cNvSpPr/>
          <p:nvPr/>
        </p:nvSpPr>
        <p:spPr>
          <a:xfrm>
            <a:off x="457200" y="3794760"/>
            <a:ext cx="8229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900"/>
              <a:buFont typeface="Calibri"/>
              <a:buNone/>
            </a:pPr>
            <a:r>
              <a:rPr b="1" lang="en-US" sz="900">
                <a:solidFill>
                  <a:srgbClr val="1A3A5C"/>
                </a:solidFill>
                <a:latin typeface="Calibri"/>
                <a:ea typeface="Calibri"/>
                <a:cs typeface="Calibri"/>
                <a:sym typeface="Calibri"/>
              </a:rPr>
              <a:t>Michael Torres (GA):</a:t>
            </a:r>
            <a:endParaRPr sz="900">
              <a:solidFill>
                <a:schemeClr val="dk1"/>
              </a:solidFill>
              <a:latin typeface="Calibri"/>
              <a:ea typeface="Calibri"/>
              <a:cs typeface="Calibri"/>
              <a:sym typeface="Calibri"/>
            </a:endParaRPr>
          </a:p>
        </p:txBody>
      </p:sp>
      <p:sp>
        <p:nvSpPr>
          <p:cNvPr id="204" name="Google Shape;204;p10"/>
          <p:cNvSpPr/>
          <p:nvPr/>
        </p:nvSpPr>
        <p:spPr>
          <a:xfrm>
            <a:off x="457200" y="3950208"/>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Final thought - the combination therapy data with pembrolizumab would be really compelling. I know it's early, but KOLs are already asking about IO combinations. Even Phase 1b safety data would help the conversation.</a:t>
            </a:r>
            <a:endParaRPr sz="900">
              <a:solidFill>
                <a:schemeClr val="dk1"/>
              </a:solidFill>
              <a:latin typeface="Calibri"/>
              <a:ea typeface="Calibri"/>
              <a:cs typeface="Calibri"/>
              <a:sym typeface="Calibri"/>
            </a:endParaRPr>
          </a:p>
        </p:txBody>
      </p:sp>
      <p:sp>
        <p:nvSpPr>
          <p:cNvPr id="205" name="Google Shape;205;p10"/>
          <p:cNvSpPr/>
          <p:nvPr/>
        </p:nvSpPr>
        <p:spPr>
          <a:xfrm>
            <a:off x="457200" y="4709160"/>
            <a:ext cx="64008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800"/>
              <a:buFont typeface="Calibri"/>
              <a:buNone/>
            </a:pPr>
            <a:r>
              <a:rPr lang="en-US" sz="800">
                <a:solidFill>
                  <a:srgbClr val="666666"/>
                </a:solidFill>
                <a:latin typeface="Calibri"/>
                <a:ea typeface="Calibri"/>
                <a:cs typeface="Calibri"/>
                <a:sym typeface="Calibri"/>
              </a:rPr>
              <a:t>OVT-209 MSL Training Series | Session 3 | April 2025</a:t>
            </a:r>
            <a:endParaRPr sz="800">
              <a:solidFill>
                <a:schemeClr val="dk1"/>
              </a:solidFill>
              <a:latin typeface="Calibri"/>
              <a:ea typeface="Calibri"/>
              <a:cs typeface="Calibri"/>
              <a:sym typeface="Calibri"/>
            </a:endParaRPr>
          </a:p>
        </p:txBody>
      </p:sp>
      <p:sp>
        <p:nvSpPr>
          <p:cNvPr id="206" name="Google Shape;206;p10"/>
          <p:cNvSpPr/>
          <p:nvPr/>
        </p:nvSpPr>
        <p:spPr>
          <a:xfrm>
            <a:off x="7772400" y="4709160"/>
            <a:ext cx="9144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800"/>
              <a:buFont typeface="Calibri"/>
              <a:buNone/>
            </a:pPr>
            <a:r>
              <a:rPr lang="en-US" sz="800">
                <a:solidFill>
                  <a:srgbClr val="666666"/>
                </a:solidFill>
                <a:latin typeface="Calibri"/>
                <a:ea typeface="Calibri"/>
                <a:cs typeface="Calibri"/>
                <a:sym typeface="Calibri"/>
              </a:rPr>
              <a:t>Page 4 of 4</a:t>
            </a:r>
            <a:endParaRPr sz="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1"/>
          <p:cNvSpPr/>
          <p:nvPr/>
        </p:nvSpPr>
        <p:spPr>
          <a:xfrm>
            <a:off x="0" y="0"/>
            <a:ext cx="9144000" cy="548640"/>
          </a:xfrm>
          <a:prstGeom prst="rect">
            <a:avLst/>
          </a:prstGeom>
          <a:solidFill>
            <a:srgbClr val="1A3A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11"/>
          <p:cNvSpPr/>
          <p:nvPr/>
        </p:nvSpPr>
        <p:spPr>
          <a:xfrm>
            <a:off x="457200" y="1371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Post-Session Evaluation Summary (n=12)</a:t>
            </a:r>
            <a:endParaRPr sz="1600">
              <a:solidFill>
                <a:schemeClr val="dk1"/>
              </a:solidFill>
              <a:latin typeface="Calibri"/>
              <a:ea typeface="Calibri"/>
              <a:cs typeface="Calibri"/>
              <a:sym typeface="Calibri"/>
            </a:endParaRPr>
          </a:p>
        </p:txBody>
      </p:sp>
      <p:graphicFrame>
        <p:nvGraphicFramePr>
          <p:cNvPr id="214" name="Google Shape;214;p11"/>
          <p:cNvGraphicFramePr/>
          <p:nvPr/>
        </p:nvGraphicFramePr>
        <p:xfrm>
          <a:off x="457200" y="731520"/>
          <a:ext cx="3000000" cy="3000000"/>
        </p:xfrm>
        <a:graphic>
          <a:graphicData uri="http://schemas.openxmlformats.org/drawingml/2006/table">
            <a:tbl>
              <a:tblPr>
                <a:noFill/>
                <a:tableStyleId>{623D5A9C-6987-402F-99EB-95BBD4E443FB}</a:tableStyleId>
              </a:tblPr>
              <a:tblGrid>
                <a:gridCol w="1828800"/>
                <a:gridCol w="1371600"/>
                <a:gridCol w="5029200"/>
              </a:tblGrid>
              <a:tr h="28737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Category</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A3A5C"/>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Avg Rating (1-5)</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A3A5C"/>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Comments</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A3A5C"/>
                    </a:solidFill>
                  </a:tcPr>
                </a:tc>
              </a:tr>
              <a:tr h="2873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Content relevance</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4.8</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Highly applicable to field discussions</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73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Instructor knowledge</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4.9</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Dr. Chen was exceptional</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73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Materials quality</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4.5</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Request more case studies</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73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Venue/logistics</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3.2</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Parking issues, room too cold, WiFi problems</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73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Catering</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4.4</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Much improved from Session 2; Maggiano's was a hit</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73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Overall satisfaction</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4.6</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Best session of the series so far</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15" name="Google Shape;215;p11"/>
          <p:cNvSpPr/>
          <p:nvPr/>
        </p:nvSpPr>
        <p:spPr>
          <a:xfrm>
            <a:off x="457200" y="2926080"/>
            <a:ext cx="8229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000"/>
              <a:buFont typeface="Calibri"/>
              <a:buNone/>
            </a:pPr>
            <a:r>
              <a:rPr b="1" lang="en-US" sz="1000">
                <a:solidFill>
                  <a:srgbClr val="1A3A5C"/>
                </a:solidFill>
                <a:latin typeface="Calibri"/>
                <a:ea typeface="Calibri"/>
                <a:cs typeface="Calibri"/>
                <a:sym typeface="Calibri"/>
              </a:rPr>
              <a:t>OPEN-ENDED FEEDBACK THEMES:</a:t>
            </a:r>
            <a:endParaRPr sz="1000">
              <a:solidFill>
                <a:schemeClr val="dk1"/>
              </a:solidFill>
              <a:latin typeface="Calibri"/>
              <a:ea typeface="Calibri"/>
              <a:cs typeface="Calibri"/>
              <a:sym typeface="Calibri"/>
            </a:endParaRPr>
          </a:p>
        </p:txBody>
      </p:sp>
      <p:sp>
        <p:nvSpPr>
          <p:cNvPr id="216" name="Google Shape;216;p11"/>
          <p:cNvSpPr/>
          <p:nvPr/>
        </p:nvSpPr>
        <p:spPr>
          <a:xfrm>
            <a:off x="457200" y="320040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 Sequencing guidance needed: 8 of 12 respondents want clearer positioning vs docetaxel</a:t>
            </a:r>
            <a:endParaRPr sz="900">
              <a:solidFill>
                <a:schemeClr val="dk1"/>
              </a:solidFill>
              <a:latin typeface="Calibri"/>
              <a:ea typeface="Calibri"/>
              <a:cs typeface="Calibri"/>
              <a:sym typeface="Calibri"/>
            </a:endParaRPr>
          </a:p>
        </p:txBody>
      </p:sp>
      <p:sp>
        <p:nvSpPr>
          <p:cNvPr id="217" name="Google Shape;217;p11"/>
          <p:cNvSpPr/>
          <p:nvPr/>
        </p:nvSpPr>
        <p:spPr>
          <a:xfrm>
            <a:off x="457200" y="347472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 ILD management: High interest in detailed protocols; consider standalone module</a:t>
            </a:r>
            <a:endParaRPr sz="900">
              <a:solidFill>
                <a:schemeClr val="dk1"/>
              </a:solidFill>
              <a:latin typeface="Calibri"/>
              <a:ea typeface="Calibri"/>
              <a:cs typeface="Calibri"/>
              <a:sym typeface="Calibri"/>
            </a:endParaRPr>
          </a:p>
        </p:txBody>
      </p:sp>
      <p:sp>
        <p:nvSpPr>
          <p:cNvPr id="218" name="Google Shape;218;p11"/>
          <p:cNvSpPr/>
          <p:nvPr/>
        </p:nvSpPr>
        <p:spPr>
          <a:xfrm>
            <a:off x="457200" y="37490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 Competitive intel: Request for monthly updates on Lunexorimab/Dato-DXd development</a:t>
            </a:r>
            <a:endParaRPr sz="900">
              <a:solidFill>
                <a:schemeClr val="dk1"/>
              </a:solidFill>
              <a:latin typeface="Calibri"/>
              <a:ea typeface="Calibri"/>
              <a:cs typeface="Calibri"/>
              <a:sym typeface="Calibri"/>
            </a:endParaRPr>
          </a:p>
        </p:txBody>
      </p:sp>
      <p:sp>
        <p:nvSpPr>
          <p:cNvPr id="219" name="Google Shape;219;p11"/>
          <p:cNvSpPr/>
          <p:nvPr/>
        </p:nvSpPr>
        <p:spPr>
          <a:xfrm>
            <a:off x="457200" y="402336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 Venue: Multiple complaints about parking and room temperature; consider different location</a:t>
            </a:r>
            <a:endParaRPr sz="900">
              <a:solidFill>
                <a:schemeClr val="dk1"/>
              </a:solidFill>
              <a:latin typeface="Calibri"/>
              <a:ea typeface="Calibri"/>
              <a:cs typeface="Calibri"/>
              <a:sym typeface="Calibri"/>
            </a:endParaRPr>
          </a:p>
        </p:txBody>
      </p:sp>
      <p:sp>
        <p:nvSpPr>
          <p:cNvPr id="220" name="Google Shape;220;p11"/>
          <p:cNvSpPr/>
          <p:nvPr/>
        </p:nvSpPr>
        <p:spPr>
          <a:xfrm>
            <a:off x="457200" y="4297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900"/>
              <a:buFont typeface="Calibri"/>
              <a:buNone/>
            </a:pPr>
            <a:r>
              <a:rPr lang="en-US" sz="900">
                <a:solidFill>
                  <a:srgbClr val="333333"/>
                </a:solidFill>
                <a:latin typeface="Calibri"/>
                <a:ea typeface="Calibri"/>
                <a:cs typeface="Calibri"/>
                <a:sym typeface="Calibri"/>
              </a:rPr>
              <a:t>• Food: Positive feedback on Maggiano's catering; recommend for future sessions</a:t>
            </a:r>
            <a:endParaRPr sz="900">
              <a:solidFill>
                <a:schemeClr val="dk1"/>
              </a:solidFill>
              <a:latin typeface="Calibri"/>
              <a:ea typeface="Calibri"/>
              <a:cs typeface="Calibri"/>
              <a:sym typeface="Calibri"/>
            </a:endParaRPr>
          </a:p>
        </p:txBody>
      </p:sp>
      <p:sp>
        <p:nvSpPr>
          <p:cNvPr id="221" name="Google Shape;221;p11"/>
          <p:cNvSpPr/>
          <p:nvPr/>
        </p:nvSpPr>
        <p:spPr>
          <a:xfrm>
            <a:off x="457200" y="4709160"/>
            <a:ext cx="64008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800"/>
              <a:buFont typeface="Calibri"/>
              <a:buNone/>
            </a:pPr>
            <a:r>
              <a:rPr lang="en-US" sz="800">
                <a:solidFill>
                  <a:srgbClr val="666666"/>
                </a:solidFill>
                <a:latin typeface="Calibri"/>
                <a:ea typeface="Calibri"/>
                <a:cs typeface="Calibri"/>
                <a:sym typeface="Calibri"/>
              </a:rPr>
              <a:t>OVT-209 MSL Training Series | Session 3 | April 2025</a:t>
            </a:r>
            <a:endParaRPr sz="800">
              <a:solidFill>
                <a:schemeClr val="dk1"/>
              </a:solidFill>
              <a:latin typeface="Calibri"/>
              <a:ea typeface="Calibri"/>
              <a:cs typeface="Calibri"/>
              <a:sym typeface="Calibri"/>
            </a:endParaRPr>
          </a:p>
        </p:txBody>
      </p:sp>
      <p:sp>
        <p:nvSpPr>
          <p:cNvPr id="222" name="Google Shape;222;p11"/>
          <p:cNvSpPr/>
          <p:nvPr/>
        </p:nvSpPr>
        <p:spPr>
          <a:xfrm>
            <a:off x="7772400" y="4709160"/>
            <a:ext cx="9144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C0000"/>
              </a:buClr>
              <a:buSzPts val="800"/>
              <a:buFont typeface="Calibri"/>
              <a:buNone/>
            </a:pPr>
            <a:r>
              <a:rPr b="1" lang="en-US" sz="800">
                <a:solidFill>
                  <a:srgbClr val="CC0000"/>
                </a:solidFill>
                <a:latin typeface="Calibri"/>
                <a:ea typeface="Calibri"/>
                <a:cs typeface="Calibri"/>
                <a:sym typeface="Calibri"/>
              </a:rPr>
              <a:t>INTERNAL</a:t>
            </a:r>
            <a:endParaRPr sz="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2"/>
          <p:cNvSpPr/>
          <p:nvPr/>
        </p:nvSpPr>
        <p:spPr>
          <a:xfrm>
            <a:off x="0" y="0"/>
            <a:ext cx="9144000" cy="548640"/>
          </a:xfrm>
          <a:prstGeom prst="rect">
            <a:avLst/>
          </a:prstGeom>
          <a:solidFill>
            <a:srgbClr val="1A3A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12"/>
          <p:cNvSpPr/>
          <p:nvPr/>
        </p:nvSpPr>
        <p:spPr>
          <a:xfrm>
            <a:off x="457200" y="1371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Action Items &amp; Follow-up</a:t>
            </a:r>
            <a:endParaRPr sz="1600">
              <a:solidFill>
                <a:schemeClr val="dk1"/>
              </a:solidFill>
              <a:latin typeface="Calibri"/>
              <a:ea typeface="Calibri"/>
              <a:cs typeface="Calibri"/>
              <a:sym typeface="Calibri"/>
            </a:endParaRPr>
          </a:p>
        </p:txBody>
      </p:sp>
      <p:graphicFrame>
        <p:nvGraphicFramePr>
          <p:cNvPr id="230" name="Google Shape;230;p12"/>
          <p:cNvGraphicFramePr/>
          <p:nvPr/>
        </p:nvGraphicFramePr>
        <p:xfrm>
          <a:off x="457200" y="731520"/>
          <a:ext cx="3000000" cy="3000000"/>
        </p:xfrm>
        <a:graphic>
          <a:graphicData uri="http://schemas.openxmlformats.org/drawingml/2006/table">
            <a:tbl>
              <a:tblPr>
                <a:noFill/>
                <a:tableStyleId>{623D5A9C-6987-402F-99EB-95BBD4E443FB}</a:tableStyleId>
              </a:tblPr>
              <a:tblGrid>
                <a:gridCol w="5029200"/>
                <a:gridCol w="1828800"/>
                <a:gridCol w="1371600"/>
              </a:tblGrid>
              <a:tr h="304800">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Action</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A3A5C"/>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Owner</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A3A5C"/>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Due</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A3A5C"/>
                    </a:solidFill>
                  </a:tcPr>
                </a:tc>
              </a:tr>
              <a:tr h="3048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Distribute ILD management algorithm (pocket card version)</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Dr. Martinez</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Apr 22</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48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Send competitive positioning one-pager (Lunexorimab focus)</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Marcus Thompson</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Apr 25</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48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Schedule follow-up role-play sessions (individual)</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Regional MSLs</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May 15</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48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Book different venue for Session 4 - confirm parking</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Jennifer Walsh</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Apr 30</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48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Order Maggiano's catering again for Session 4</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Jennifer Walsh</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May 1</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48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Share Dr. Chen's slide deck (approved version only)</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Dr. Martinez</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Apr 18</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48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Compile KOL objection FAQ based on discussion themes</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Marcus Thompson</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May 1</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480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Post quiz to LMS - 80% pass required before field deployment</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Jennifer Walsh</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Apr 17</a:t>
                      </a:r>
                      <a:endParaRPr sz="1000" u="none" cap="none" strike="noStrike"/>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31" name="Google Shape;231;p12"/>
          <p:cNvSpPr/>
          <p:nvPr/>
        </p:nvSpPr>
        <p:spPr>
          <a:xfrm>
            <a:off x="457200" y="3657600"/>
            <a:ext cx="8229600" cy="731520"/>
          </a:xfrm>
          <a:prstGeom prst="rect">
            <a:avLst/>
          </a:prstGeom>
          <a:solidFill>
            <a:srgbClr val="E8F5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12"/>
          <p:cNvSpPr/>
          <p:nvPr/>
        </p:nvSpPr>
        <p:spPr>
          <a:xfrm>
            <a:off x="548640" y="3749040"/>
            <a:ext cx="80467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8B57"/>
              </a:buClr>
              <a:buSzPts val="1100"/>
              <a:buFont typeface="Calibri"/>
              <a:buNone/>
            </a:pPr>
            <a:r>
              <a:rPr b="1" lang="en-US" sz="1100">
                <a:solidFill>
                  <a:srgbClr val="2E8B57"/>
                </a:solidFill>
                <a:latin typeface="Calibri"/>
                <a:ea typeface="Calibri"/>
                <a:cs typeface="Calibri"/>
                <a:sym typeface="Calibri"/>
              </a:rPr>
              <a:t>NEXT SESSION: May 13, 2025 | Topic: Payer Access &amp; Reimbursement Strategies</a:t>
            </a:r>
            <a:endParaRPr sz="1100">
              <a:solidFill>
                <a:schemeClr val="dk1"/>
              </a:solidFill>
              <a:latin typeface="Calibri"/>
              <a:ea typeface="Calibri"/>
              <a:cs typeface="Calibri"/>
              <a:sym typeface="Calibri"/>
            </a:endParaRPr>
          </a:p>
        </p:txBody>
      </p:sp>
      <p:sp>
        <p:nvSpPr>
          <p:cNvPr id="233" name="Google Shape;233;p12"/>
          <p:cNvSpPr/>
          <p:nvPr/>
        </p:nvSpPr>
        <p:spPr>
          <a:xfrm>
            <a:off x="548640" y="4023360"/>
            <a:ext cx="80467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000"/>
              <a:buFont typeface="Calibri"/>
              <a:buNone/>
            </a:pPr>
            <a:r>
              <a:rPr lang="en-US" sz="1000">
                <a:solidFill>
                  <a:srgbClr val="333333"/>
                </a:solidFill>
                <a:latin typeface="Calibri"/>
                <a:ea typeface="Calibri"/>
                <a:cs typeface="Calibri"/>
                <a:sym typeface="Calibri"/>
              </a:rPr>
              <a:t>Location: TBD (addressing parking feedback) | Guest: Dr. Amy Foster, VP Market Access</a:t>
            </a:r>
            <a:endParaRPr sz="1000">
              <a:solidFill>
                <a:schemeClr val="dk1"/>
              </a:solidFill>
              <a:latin typeface="Calibri"/>
              <a:ea typeface="Calibri"/>
              <a:cs typeface="Calibri"/>
              <a:sym typeface="Calibri"/>
            </a:endParaRPr>
          </a:p>
        </p:txBody>
      </p:sp>
      <p:sp>
        <p:nvSpPr>
          <p:cNvPr id="234" name="Google Shape;234;p12"/>
          <p:cNvSpPr/>
          <p:nvPr/>
        </p:nvSpPr>
        <p:spPr>
          <a:xfrm>
            <a:off x="457200" y="4709160"/>
            <a:ext cx="64008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800"/>
              <a:buFont typeface="Calibri"/>
              <a:buNone/>
            </a:pPr>
            <a:r>
              <a:rPr lang="en-US" sz="800">
                <a:solidFill>
                  <a:srgbClr val="666666"/>
                </a:solidFill>
                <a:latin typeface="Calibri"/>
                <a:ea typeface="Calibri"/>
                <a:cs typeface="Calibri"/>
                <a:sym typeface="Calibri"/>
              </a:rPr>
              <a:t>OVT-209 MSL Training Series | Session 3 | April 2025</a:t>
            </a:r>
            <a:endParaRPr sz="800">
              <a:solidFill>
                <a:schemeClr val="dk1"/>
              </a:solidFill>
              <a:latin typeface="Calibri"/>
              <a:ea typeface="Calibri"/>
              <a:cs typeface="Calibri"/>
              <a:sym typeface="Calibri"/>
            </a:endParaRPr>
          </a:p>
        </p:txBody>
      </p:sp>
      <p:sp>
        <p:nvSpPr>
          <p:cNvPr id="235" name="Google Shape;235;p12"/>
          <p:cNvSpPr/>
          <p:nvPr/>
        </p:nvSpPr>
        <p:spPr>
          <a:xfrm>
            <a:off x="7772400" y="4709160"/>
            <a:ext cx="9144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C0000"/>
              </a:buClr>
              <a:buSzPts val="800"/>
              <a:buFont typeface="Calibri"/>
              <a:buNone/>
            </a:pPr>
            <a:r>
              <a:rPr b="1" lang="en-US" sz="800">
                <a:solidFill>
                  <a:srgbClr val="CC0000"/>
                </a:solidFill>
                <a:latin typeface="Calibri"/>
                <a:ea typeface="Calibri"/>
                <a:cs typeface="Calibri"/>
                <a:sym typeface="Calibri"/>
              </a:rPr>
              <a:t>INTERNAL</a:t>
            </a:r>
            <a:endParaRPr sz="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2025-12-19T17:22:25Z</dcterms:created>
  <dc:creator>Orivus Medical Affairs Training</dc:creator>
</cp:coreProperties>
</file>